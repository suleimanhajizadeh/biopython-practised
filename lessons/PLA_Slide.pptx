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roxima Nova"/>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11" Type="http://schemas.openxmlformats.org/officeDocument/2006/relationships/slide" Target="slides/slide6.xml"/><Relationship Id="rId22" Type="http://schemas.openxmlformats.org/officeDocument/2006/relationships/font" Target="fonts/ProximaNova-italic.fntdata"/><Relationship Id="rId10" Type="http://schemas.openxmlformats.org/officeDocument/2006/relationships/slide" Target="slides/slide5.xml"/><Relationship Id="rId21" Type="http://schemas.openxmlformats.org/officeDocument/2006/relationships/font" Target="fonts/ProximaNova-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ProximaNova-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wwpdb.org/data/ccd" TargetMode="External"/><Relationship Id="rId3" Type="http://schemas.openxmlformats.org/officeDocument/2006/relationships/hyperlink" Target="https://www.rcsb.org/"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dc2cb7bf5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dc2cb7bf5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d899ba519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d899ba519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cd899ba51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cd899ba51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d899ba51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cd899ba51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u="sng">
                <a:solidFill>
                  <a:schemeClr val="hlink"/>
                </a:solidFill>
                <a:hlinkClick r:id="rId2"/>
              </a:rPr>
              <a:t>https://www.wwpdb.org/data/ccd</a:t>
            </a:r>
            <a:r>
              <a:rPr lang="tr"/>
              <a:t> </a:t>
            </a:r>
            <a:r>
              <a:rPr lang="tr" u="sng">
                <a:solidFill>
                  <a:schemeClr val="hlink"/>
                </a:solidFill>
                <a:hlinkClick r:id="rId3"/>
              </a:rPr>
              <a:t>https://www.rcsb.org/</a:t>
            </a:r>
            <a:r>
              <a:rPr lang="tr"/>
              <a: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d899ba519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cd899ba519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d899ba51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d899ba51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d899ba519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d899ba519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d899ba519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d899ba519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cd899ba51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cd899ba51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d899ba519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cd899ba519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d899ba519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d899ba519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d899ba519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d899ba519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d899ba519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d899ba519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0.png"/><Relationship Id="rId11" Type="http://schemas.openxmlformats.org/officeDocument/2006/relationships/image" Target="../media/image11.png"/><Relationship Id="rId10" Type="http://schemas.openxmlformats.org/officeDocument/2006/relationships/image" Target="../media/image12.png"/><Relationship Id="rId9"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2.png"/><Relationship Id="rId8"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bit.ly/4aWgnZa" TargetMode="Externa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tr"/>
              <a:t>Protein-Ligand Analysis</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t>Lala Ibadullayeva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pic>
        <p:nvPicPr>
          <p:cNvPr id="65" name="Google Shape;65;p14"/>
          <p:cNvPicPr preferRelativeResize="0"/>
          <p:nvPr/>
        </p:nvPicPr>
        <p:blipFill rotWithShape="1">
          <a:blip r:embed="rId3">
            <a:alphaModFix/>
          </a:blip>
          <a:srcRect b="8967" l="0" r="0" t="0"/>
          <a:stretch/>
        </p:blipFill>
        <p:spPr>
          <a:xfrm>
            <a:off x="219775" y="1572925"/>
            <a:ext cx="2857500" cy="2601275"/>
          </a:xfrm>
          <a:prstGeom prst="rect">
            <a:avLst/>
          </a:prstGeom>
          <a:noFill/>
          <a:ln>
            <a:noFill/>
          </a:ln>
        </p:spPr>
      </p:pic>
      <p:sp>
        <p:nvSpPr>
          <p:cNvPr id="66" name="Google Shape;66;p14"/>
          <p:cNvSpPr txBox="1"/>
          <p:nvPr/>
        </p:nvSpPr>
        <p:spPr>
          <a:xfrm>
            <a:off x="3142350" y="2368475"/>
            <a:ext cx="2915700" cy="53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1800">
                <a:solidFill>
                  <a:srgbClr val="00FF00"/>
                </a:solidFill>
                <a:latin typeface="Times New Roman"/>
                <a:ea typeface="Times New Roman"/>
                <a:cs typeface="Times New Roman"/>
                <a:sym typeface="Times New Roman"/>
              </a:rPr>
              <a:t>https://linktr.ee/lala_ibadulla</a:t>
            </a:r>
            <a:endParaRPr sz="1800">
              <a:solidFill>
                <a:srgbClr val="00FF00"/>
              </a:solidFill>
              <a:latin typeface="Times New Roman"/>
              <a:ea typeface="Times New Roman"/>
              <a:cs typeface="Times New Roman"/>
              <a:sym typeface="Times New Roman"/>
            </a:endParaRPr>
          </a:p>
        </p:txBody>
      </p:sp>
      <p:pic>
        <p:nvPicPr>
          <p:cNvPr id="67" name="Google Shape;67;p14" title="Untitled design (1).png"/>
          <p:cNvPicPr preferRelativeResize="0"/>
          <p:nvPr/>
        </p:nvPicPr>
        <p:blipFill rotWithShape="1">
          <a:blip r:embed="rId4">
            <a:alphaModFix/>
          </a:blip>
          <a:srcRect b="14668" l="7454" r="8794" t="17203"/>
          <a:stretch/>
        </p:blipFill>
        <p:spPr>
          <a:xfrm>
            <a:off x="6433275" y="1536025"/>
            <a:ext cx="2329425" cy="2368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256975" y="194900"/>
            <a:ext cx="8520600" cy="37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tr" sz="2120">
                <a:latin typeface="Times New Roman"/>
                <a:ea typeface="Times New Roman"/>
                <a:cs typeface="Times New Roman"/>
                <a:sym typeface="Times New Roman"/>
              </a:rPr>
              <a:t>Bioinformatika nədir? </a:t>
            </a:r>
            <a:endParaRPr sz="2120">
              <a:latin typeface="Times New Roman"/>
              <a:ea typeface="Times New Roman"/>
              <a:cs typeface="Times New Roman"/>
              <a:sym typeface="Times New Roman"/>
            </a:endParaRPr>
          </a:p>
        </p:txBody>
      </p:sp>
      <p:sp>
        <p:nvSpPr>
          <p:cNvPr id="73" name="Google Shape;73;p15"/>
          <p:cNvSpPr txBox="1"/>
          <p:nvPr>
            <p:ph idx="1" type="body"/>
          </p:nvPr>
        </p:nvSpPr>
        <p:spPr>
          <a:xfrm>
            <a:off x="383025" y="726475"/>
            <a:ext cx="8465700" cy="1947000"/>
          </a:xfrm>
          <a:prstGeom prst="rect">
            <a:avLst/>
          </a:prstGeom>
        </p:spPr>
        <p:txBody>
          <a:bodyPr anchorCtr="0" anchor="t" bIns="91425" lIns="91425" spcFirstLastPara="1" rIns="91425" wrap="square" tIns="91425">
            <a:noAutofit/>
          </a:bodyPr>
          <a:lstStyle/>
          <a:p>
            <a:pPr indent="-306387" lvl="0" marL="457200" rtl="0" algn="l">
              <a:lnSpc>
                <a:spcPct val="95000"/>
              </a:lnSpc>
              <a:spcBef>
                <a:spcPts val="1200"/>
              </a:spcBef>
              <a:spcAft>
                <a:spcPts val="0"/>
              </a:spcAft>
              <a:buClr>
                <a:schemeClr val="dk1"/>
              </a:buClr>
              <a:buSzPts val="1225"/>
              <a:buFont typeface="Times New Roman"/>
              <a:buChar char="-"/>
            </a:pPr>
            <a:r>
              <a:rPr lang="tr" sz="1225">
                <a:solidFill>
                  <a:schemeClr val="dk1"/>
                </a:solidFill>
                <a:latin typeface="Times New Roman"/>
                <a:ea typeface="Times New Roman"/>
                <a:cs typeface="Times New Roman"/>
                <a:sym typeface="Times New Roman"/>
              </a:rPr>
              <a:t>1</a:t>
            </a:r>
            <a:r>
              <a:rPr lang="tr" sz="1225">
                <a:solidFill>
                  <a:schemeClr val="dk1"/>
                </a:solidFill>
                <a:latin typeface="Times New Roman"/>
                <a:ea typeface="Times New Roman"/>
                <a:cs typeface="Times New Roman"/>
                <a:sym typeface="Times New Roman"/>
              </a:rPr>
              <a:t>970-ci illərdə başlanmış, lakin əsl sıçrayış 1990-cı və 2000-ci illərdə İnsan Genom Layihəsi (Human Genome Project) ilə baş vermişdir.</a:t>
            </a:r>
            <a:endParaRPr sz="1225">
              <a:solidFill>
                <a:schemeClr val="dk1"/>
              </a:solidFill>
              <a:latin typeface="Times New Roman"/>
              <a:ea typeface="Times New Roman"/>
              <a:cs typeface="Times New Roman"/>
              <a:sym typeface="Times New Roman"/>
            </a:endParaRPr>
          </a:p>
          <a:p>
            <a:pPr indent="-306387" lvl="0" marL="457200" rtl="0" algn="l">
              <a:lnSpc>
                <a:spcPct val="95000"/>
              </a:lnSpc>
              <a:spcBef>
                <a:spcPts val="0"/>
              </a:spcBef>
              <a:spcAft>
                <a:spcPts val="0"/>
              </a:spcAft>
              <a:buClr>
                <a:schemeClr val="dk1"/>
              </a:buClr>
              <a:buSzPts val="1225"/>
              <a:buFont typeface="Times New Roman"/>
              <a:buChar char="-"/>
            </a:pPr>
            <a:r>
              <a:rPr lang="tr" sz="1225">
                <a:solidFill>
                  <a:schemeClr val="dk1"/>
                </a:solidFill>
                <a:latin typeface="Times New Roman"/>
                <a:ea typeface="Times New Roman"/>
                <a:cs typeface="Times New Roman"/>
                <a:sym typeface="Times New Roman"/>
              </a:rPr>
              <a:t>Son dövrlərdə (2023-2026) dünyadakı yeniliklər : AlphaFold</a:t>
            </a:r>
            <a:endParaRPr sz="1225">
              <a:solidFill>
                <a:schemeClr val="dk1"/>
              </a:solidFill>
              <a:latin typeface="Times New Roman"/>
              <a:ea typeface="Times New Roman"/>
              <a:cs typeface="Times New Roman"/>
              <a:sym typeface="Times New Roman"/>
            </a:endParaRPr>
          </a:p>
          <a:p>
            <a:pPr indent="-306387" lvl="0" marL="457200" rtl="0" algn="l">
              <a:spcBef>
                <a:spcPts val="0"/>
              </a:spcBef>
              <a:spcAft>
                <a:spcPts val="0"/>
              </a:spcAft>
              <a:buClr>
                <a:schemeClr val="dk1"/>
              </a:buClr>
              <a:buSzPts val="1225"/>
              <a:buFont typeface="Times New Roman"/>
              <a:buChar char="-"/>
            </a:pPr>
            <a:r>
              <a:rPr lang="tr" sz="1200">
                <a:solidFill>
                  <a:srgbClr val="000000"/>
                </a:solidFill>
                <a:latin typeface="Times New Roman"/>
                <a:ea typeface="Times New Roman"/>
                <a:cs typeface="Times New Roman"/>
                <a:sym typeface="Times New Roman"/>
              </a:rPr>
              <a:t>Digər əhəmiyyətli yeniliklər : </a:t>
            </a:r>
            <a:endParaRPr sz="1225">
              <a:solidFill>
                <a:schemeClr val="dk1"/>
              </a:solidFill>
              <a:latin typeface="Times New Roman"/>
              <a:ea typeface="Times New Roman"/>
              <a:cs typeface="Times New Roman"/>
              <a:sym typeface="Times New Roman"/>
            </a:endParaRPr>
          </a:p>
          <a:p>
            <a:pPr indent="-306387" lvl="0" marL="457200" rtl="0" algn="l">
              <a:lnSpc>
                <a:spcPct val="95000"/>
              </a:lnSpc>
              <a:spcBef>
                <a:spcPts val="0"/>
              </a:spcBef>
              <a:spcAft>
                <a:spcPts val="0"/>
              </a:spcAft>
              <a:buClr>
                <a:schemeClr val="dk1"/>
              </a:buClr>
              <a:buSzPts val="1225"/>
              <a:buFont typeface="Times New Roman"/>
              <a:buAutoNum type="arabicPeriod"/>
            </a:pPr>
            <a:r>
              <a:rPr lang="tr" sz="1225">
                <a:solidFill>
                  <a:schemeClr val="dk1"/>
                </a:solidFill>
                <a:latin typeface="Times New Roman"/>
                <a:ea typeface="Times New Roman"/>
                <a:cs typeface="Times New Roman"/>
                <a:sym typeface="Times New Roman"/>
              </a:rPr>
              <a:t>Multi-omika inteqrasiyası</a:t>
            </a:r>
            <a:endParaRPr sz="1225">
              <a:solidFill>
                <a:schemeClr val="dk1"/>
              </a:solidFill>
              <a:latin typeface="Times New Roman"/>
              <a:ea typeface="Times New Roman"/>
              <a:cs typeface="Times New Roman"/>
              <a:sym typeface="Times New Roman"/>
            </a:endParaRPr>
          </a:p>
          <a:p>
            <a:pPr indent="-306387" lvl="0" marL="457200" rtl="0" algn="l">
              <a:lnSpc>
                <a:spcPct val="95000"/>
              </a:lnSpc>
              <a:spcBef>
                <a:spcPts val="0"/>
              </a:spcBef>
              <a:spcAft>
                <a:spcPts val="0"/>
              </a:spcAft>
              <a:buClr>
                <a:schemeClr val="dk1"/>
              </a:buClr>
              <a:buSzPts val="1225"/>
              <a:buFont typeface="Times New Roman"/>
              <a:buAutoNum type="arabicPeriod"/>
            </a:pPr>
            <a:r>
              <a:rPr lang="tr" sz="1225">
                <a:solidFill>
                  <a:schemeClr val="dk1"/>
                </a:solidFill>
                <a:latin typeface="Times New Roman"/>
                <a:ea typeface="Times New Roman"/>
                <a:cs typeface="Times New Roman"/>
                <a:sym typeface="Times New Roman"/>
              </a:rPr>
              <a:t>Məkan transkriptomikası və tək hüceyrə omikası</a:t>
            </a:r>
            <a:endParaRPr sz="1225">
              <a:solidFill>
                <a:schemeClr val="dk1"/>
              </a:solidFill>
              <a:latin typeface="Times New Roman"/>
              <a:ea typeface="Times New Roman"/>
              <a:cs typeface="Times New Roman"/>
              <a:sym typeface="Times New Roman"/>
            </a:endParaRPr>
          </a:p>
          <a:p>
            <a:pPr indent="-306387" lvl="0" marL="457200" rtl="0" algn="l">
              <a:lnSpc>
                <a:spcPct val="95000"/>
              </a:lnSpc>
              <a:spcBef>
                <a:spcPts val="0"/>
              </a:spcBef>
              <a:spcAft>
                <a:spcPts val="0"/>
              </a:spcAft>
              <a:buClr>
                <a:schemeClr val="dk1"/>
              </a:buClr>
              <a:buSzPts val="1225"/>
              <a:buFont typeface="Times New Roman"/>
              <a:buAutoNum type="arabicPeriod"/>
            </a:pPr>
            <a:r>
              <a:rPr lang="tr" sz="1225">
                <a:solidFill>
                  <a:schemeClr val="dk1"/>
                </a:solidFill>
                <a:latin typeface="Times New Roman"/>
                <a:ea typeface="Times New Roman"/>
                <a:cs typeface="Times New Roman"/>
                <a:sym typeface="Times New Roman"/>
              </a:rPr>
              <a:t>Kvant hesablama və etik AI</a:t>
            </a:r>
            <a:endParaRPr sz="1225">
              <a:solidFill>
                <a:schemeClr val="dk1"/>
              </a:solidFill>
              <a:latin typeface="Times New Roman"/>
              <a:ea typeface="Times New Roman"/>
              <a:cs typeface="Times New Roman"/>
              <a:sym typeface="Times New Roman"/>
            </a:endParaRPr>
          </a:p>
          <a:p>
            <a:pPr indent="-306387" lvl="0" marL="457200" rtl="0" algn="l">
              <a:lnSpc>
                <a:spcPct val="95000"/>
              </a:lnSpc>
              <a:spcBef>
                <a:spcPts val="0"/>
              </a:spcBef>
              <a:spcAft>
                <a:spcPts val="0"/>
              </a:spcAft>
              <a:buClr>
                <a:schemeClr val="dk1"/>
              </a:buClr>
              <a:buSzPts val="1225"/>
              <a:buFont typeface="Times New Roman"/>
              <a:buAutoNum type="arabicPeriod"/>
            </a:pPr>
            <a:r>
              <a:rPr lang="tr" sz="1225">
                <a:solidFill>
                  <a:schemeClr val="dk1"/>
                </a:solidFill>
                <a:latin typeface="Times New Roman"/>
                <a:ea typeface="Times New Roman"/>
                <a:cs typeface="Times New Roman"/>
                <a:sym typeface="Times New Roman"/>
              </a:rPr>
              <a:t>CRISPR və genom redaktəsi yenilikləri</a:t>
            </a:r>
            <a:endParaRPr sz="1225">
              <a:solidFill>
                <a:schemeClr val="dk1"/>
              </a:solidFill>
              <a:latin typeface="Times New Roman"/>
              <a:ea typeface="Times New Roman"/>
              <a:cs typeface="Times New Roman"/>
              <a:sym typeface="Times New Roman"/>
            </a:endParaRPr>
          </a:p>
        </p:txBody>
      </p:sp>
      <p:pic>
        <p:nvPicPr>
          <p:cNvPr id="74" name="Google Shape;74;p15"/>
          <p:cNvPicPr preferRelativeResize="0"/>
          <p:nvPr/>
        </p:nvPicPr>
        <p:blipFill rotWithShape="1">
          <a:blip r:embed="rId3">
            <a:alphaModFix/>
          </a:blip>
          <a:srcRect b="4889" l="0" r="0" t="0"/>
          <a:stretch/>
        </p:blipFill>
        <p:spPr>
          <a:xfrm>
            <a:off x="4131150" y="1493025"/>
            <a:ext cx="4855075" cy="34628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2105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2400"/>
              </a:spcBef>
              <a:spcAft>
                <a:spcPts val="600"/>
              </a:spcAft>
              <a:buNone/>
            </a:pPr>
            <a:r>
              <a:rPr lang="tr" sz="2200">
                <a:solidFill>
                  <a:srgbClr val="000000"/>
                </a:solidFill>
                <a:latin typeface="Times New Roman"/>
                <a:ea typeface="Times New Roman"/>
                <a:cs typeface="Times New Roman"/>
                <a:sym typeface="Times New Roman"/>
              </a:rPr>
              <a:t>Pipeline Architecture for project</a:t>
            </a:r>
            <a:endParaRPr sz="2700">
              <a:latin typeface="Times New Roman"/>
              <a:ea typeface="Times New Roman"/>
              <a:cs typeface="Times New Roman"/>
              <a:sym typeface="Times New Roman"/>
            </a:endParaRPr>
          </a:p>
        </p:txBody>
      </p:sp>
      <p:sp>
        <p:nvSpPr>
          <p:cNvPr id="80" name="Google Shape;80;p16"/>
          <p:cNvSpPr txBox="1"/>
          <p:nvPr>
            <p:ph idx="1" type="body"/>
          </p:nvPr>
        </p:nvSpPr>
        <p:spPr>
          <a:xfrm>
            <a:off x="522750" y="1156875"/>
            <a:ext cx="2666400" cy="3083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sz="1100">
                <a:solidFill>
                  <a:srgbClr val="000000"/>
                </a:solidFill>
                <a:latin typeface="Times New Roman"/>
                <a:ea typeface="Times New Roman"/>
                <a:cs typeface="Times New Roman"/>
                <a:sym typeface="Times New Roman"/>
              </a:rPr>
              <a:t>Bu project protein strukturu, ligand kimyası və sequence məlumatını birləşdirən, avtomatik analiz və vizuallaşdırma edən bioinformatika </a:t>
            </a:r>
            <a:r>
              <a:rPr lang="tr" sz="1100">
                <a:solidFill>
                  <a:srgbClr val="000000"/>
                </a:solidFill>
                <a:latin typeface="Times New Roman"/>
                <a:ea typeface="Times New Roman"/>
                <a:cs typeface="Times New Roman"/>
                <a:sym typeface="Times New Roman"/>
              </a:rPr>
              <a:t>alətidir. Protein–Ligand Analysis Pipeline PDB-dən götürülən protein strukturları üzərində protein–ligand analizini avtomatlaşdıran bioinformatika pipeline-ıdır. İstifadəçi sadəcə PDB ID və ligand ID daxil edir, sistem isə struktur faylını avtomatik yükləyib emal edir : </a:t>
            </a:r>
            <a:endParaRPr sz="1100">
              <a:solidFill>
                <a:srgbClr val="000000"/>
              </a:solidFill>
              <a:latin typeface="Times New Roman"/>
              <a:ea typeface="Times New Roman"/>
              <a:cs typeface="Times New Roman"/>
              <a:sym typeface="Times New Roman"/>
            </a:endParaRPr>
          </a:p>
        </p:txBody>
      </p:sp>
      <p:pic>
        <p:nvPicPr>
          <p:cNvPr id="81" name="Google Shape;81;p16" title="Screenshot_20260306_144905.png"/>
          <p:cNvPicPr preferRelativeResize="0"/>
          <p:nvPr/>
        </p:nvPicPr>
        <p:blipFill>
          <a:blip r:embed="rId3">
            <a:alphaModFix/>
          </a:blip>
          <a:stretch>
            <a:fillRect/>
          </a:stretch>
        </p:blipFill>
        <p:spPr>
          <a:xfrm>
            <a:off x="3666100" y="627125"/>
            <a:ext cx="5307401" cy="3996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405500" y="1516475"/>
            <a:ext cx="4769400" cy="31002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Times New Roman"/>
              <a:buChar char="-"/>
            </a:pPr>
            <a:r>
              <a:rPr lang="tr" sz="1400">
                <a:solidFill>
                  <a:schemeClr val="dk1"/>
                </a:solidFill>
                <a:latin typeface="Times New Roman"/>
                <a:ea typeface="Times New Roman"/>
                <a:cs typeface="Times New Roman"/>
                <a:sym typeface="Times New Roman"/>
              </a:rPr>
              <a:t>gemmi : struktur faylını oxuyur</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Char char="-"/>
            </a:pPr>
            <a:r>
              <a:rPr lang="tr" sz="1400">
                <a:solidFill>
                  <a:schemeClr val="dk1"/>
                </a:solidFill>
                <a:latin typeface="Times New Roman"/>
                <a:ea typeface="Times New Roman"/>
                <a:cs typeface="Times New Roman"/>
                <a:sym typeface="Times New Roman"/>
              </a:rPr>
              <a:t>MDAnalysis : atom səviyyəsində ölçür</a:t>
            </a:r>
            <a:r>
              <a:rPr lang="tr" sz="1400">
                <a:solidFill>
                  <a:srgbClr val="000000"/>
                </a:solidFill>
                <a:latin typeface="Times New Roman"/>
                <a:ea typeface="Times New Roman"/>
                <a:cs typeface="Times New Roman"/>
                <a:sym typeface="Times New Roman"/>
              </a:rPr>
              <a:t> (protein-ligand interaksiyalarını (Rg, COM distance) hesablamaq) </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tr" sz="1400">
                <a:solidFill>
                  <a:schemeClr val="dk1"/>
                </a:solidFill>
                <a:latin typeface="Times New Roman"/>
                <a:ea typeface="Times New Roman"/>
                <a:cs typeface="Times New Roman"/>
                <a:sym typeface="Times New Roman"/>
              </a:rPr>
              <a:t>RDKit : ligand kimyasını xülasələyir (RDKit Lipinski qaydalarını yoxlamaq üçün </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tr" sz="1400">
                <a:solidFill>
                  <a:schemeClr val="dk1"/>
                </a:solidFill>
                <a:latin typeface="Times New Roman"/>
                <a:ea typeface="Times New Roman"/>
                <a:cs typeface="Times New Roman"/>
                <a:sym typeface="Times New Roman"/>
              </a:rPr>
              <a:t>BioPython : sequence layer-i verir,</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tr" sz="1400">
                <a:solidFill>
                  <a:schemeClr val="dk1"/>
                </a:solidFill>
                <a:latin typeface="Times New Roman"/>
                <a:ea typeface="Times New Roman"/>
                <a:cs typeface="Times New Roman"/>
                <a:sym typeface="Times New Roman"/>
              </a:rPr>
              <a:t>pandas/numpy : nəticəni formalaşdırır,</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tr" sz="1400">
                <a:solidFill>
                  <a:schemeClr val="dk1"/>
                </a:solidFill>
                <a:latin typeface="Times New Roman"/>
                <a:ea typeface="Times New Roman"/>
                <a:cs typeface="Times New Roman"/>
                <a:sym typeface="Times New Roman"/>
              </a:rPr>
              <a:t>matplotlib/plotly : vizuallaşdırır,</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tr" sz="1400">
                <a:solidFill>
                  <a:schemeClr val="dk1"/>
                </a:solidFill>
                <a:latin typeface="Times New Roman"/>
                <a:ea typeface="Times New Roman"/>
                <a:cs typeface="Times New Roman"/>
                <a:sym typeface="Times New Roman"/>
              </a:rPr>
              <a:t>pubchempy : data boşluqlarını doldurur</a:t>
            </a:r>
            <a:endParaRPr sz="14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tr" sz="1400">
                <a:solidFill>
                  <a:schemeClr val="dk1"/>
                </a:solidFill>
                <a:latin typeface="Times New Roman"/>
                <a:ea typeface="Times New Roman"/>
                <a:cs typeface="Times New Roman"/>
                <a:sym typeface="Times New Roman"/>
              </a:rPr>
              <a:t>gradio : bunu UI ilə məhsula çevirir.</a:t>
            </a:r>
            <a:endParaRPr sz="1400">
              <a:solidFill>
                <a:schemeClr val="dk1"/>
              </a:solidFill>
              <a:latin typeface="Times New Roman"/>
              <a:ea typeface="Times New Roman"/>
              <a:cs typeface="Times New Roman"/>
              <a:sym typeface="Times New Roman"/>
            </a:endParaRPr>
          </a:p>
        </p:txBody>
      </p:sp>
      <p:pic>
        <p:nvPicPr>
          <p:cNvPr id="87" name="Google Shape;87;p17" title="Screenshot_20260306_163129.png"/>
          <p:cNvPicPr preferRelativeResize="0"/>
          <p:nvPr/>
        </p:nvPicPr>
        <p:blipFill>
          <a:blip r:embed="rId3">
            <a:alphaModFix/>
          </a:blip>
          <a:stretch>
            <a:fillRect/>
          </a:stretch>
        </p:blipFill>
        <p:spPr>
          <a:xfrm>
            <a:off x="7825749" y="3025329"/>
            <a:ext cx="1280150" cy="406246"/>
          </a:xfrm>
          <a:prstGeom prst="rect">
            <a:avLst/>
          </a:prstGeom>
          <a:noFill/>
          <a:ln>
            <a:noFill/>
          </a:ln>
        </p:spPr>
      </p:pic>
      <p:pic>
        <p:nvPicPr>
          <p:cNvPr id="88" name="Google Shape;88;p17" title="Screenshot_20260306_163208.png"/>
          <p:cNvPicPr preferRelativeResize="0"/>
          <p:nvPr/>
        </p:nvPicPr>
        <p:blipFill>
          <a:blip r:embed="rId4">
            <a:alphaModFix/>
          </a:blip>
          <a:stretch>
            <a:fillRect/>
          </a:stretch>
        </p:blipFill>
        <p:spPr>
          <a:xfrm>
            <a:off x="8077000" y="1152475"/>
            <a:ext cx="997625" cy="877900"/>
          </a:xfrm>
          <a:prstGeom prst="rect">
            <a:avLst/>
          </a:prstGeom>
          <a:noFill/>
          <a:ln>
            <a:noFill/>
          </a:ln>
        </p:spPr>
      </p:pic>
      <p:pic>
        <p:nvPicPr>
          <p:cNvPr id="89" name="Google Shape;89;p17" title="Screenshot_20260306_163256.png"/>
          <p:cNvPicPr preferRelativeResize="0"/>
          <p:nvPr/>
        </p:nvPicPr>
        <p:blipFill>
          <a:blip r:embed="rId5">
            <a:alphaModFix/>
          </a:blip>
          <a:stretch>
            <a:fillRect/>
          </a:stretch>
        </p:blipFill>
        <p:spPr>
          <a:xfrm>
            <a:off x="7816875" y="3606725"/>
            <a:ext cx="1225925" cy="1266800"/>
          </a:xfrm>
          <a:prstGeom prst="rect">
            <a:avLst/>
          </a:prstGeom>
          <a:noFill/>
          <a:ln>
            <a:noFill/>
          </a:ln>
        </p:spPr>
      </p:pic>
      <p:pic>
        <p:nvPicPr>
          <p:cNvPr id="90" name="Google Shape;90;p17" title="Screenshot_20260306_163338.png"/>
          <p:cNvPicPr preferRelativeResize="0"/>
          <p:nvPr/>
        </p:nvPicPr>
        <p:blipFill>
          <a:blip r:embed="rId6">
            <a:alphaModFix/>
          </a:blip>
          <a:stretch>
            <a:fillRect/>
          </a:stretch>
        </p:blipFill>
        <p:spPr>
          <a:xfrm>
            <a:off x="6321024" y="3309700"/>
            <a:ext cx="1409506" cy="798725"/>
          </a:xfrm>
          <a:prstGeom prst="rect">
            <a:avLst/>
          </a:prstGeom>
          <a:noFill/>
          <a:ln>
            <a:noFill/>
          </a:ln>
        </p:spPr>
      </p:pic>
      <p:pic>
        <p:nvPicPr>
          <p:cNvPr id="91" name="Google Shape;91;p17" title="Screenshot_20260306_163445.png"/>
          <p:cNvPicPr preferRelativeResize="0"/>
          <p:nvPr/>
        </p:nvPicPr>
        <p:blipFill rotWithShape="1">
          <a:blip r:embed="rId7">
            <a:alphaModFix/>
          </a:blip>
          <a:srcRect b="0" l="9509" r="21582" t="0"/>
          <a:stretch/>
        </p:blipFill>
        <p:spPr>
          <a:xfrm>
            <a:off x="7250750" y="1737738"/>
            <a:ext cx="997625" cy="647700"/>
          </a:xfrm>
          <a:prstGeom prst="rect">
            <a:avLst/>
          </a:prstGeom>
          <a:noFill/>
          <a:ln>
            <a:noFill/>
          </a:ln>
        </p:spPr>
      </p:pic>
      <p:pic>
        <p:nvPicPr>
          <p:cNvPr id="92" name="Google Shape;92;p17" title="Screenshot_20260306_163522.png"/>
          <p:cNvPicPr preferRelativeResize="0"/>
          <p:nvPr/>
        </p:nvPicPr>
        <p:blipFill>
          <a:blip r:embed="rId8">
            <a:alphaModFix/>
          </a:blip>
          <a:stretch>
            <a:fillRect/>
          </a:stretch>
        </p:blipFill>
        <p:spPr>
          <a:xfrm>
            <a:off x="6545599" y="2419038"/>
            <a:ext cx="1280153" cy="572700"/>
          </a:xfrm>
          <a:prstGeom prst="rect">
            <a:avLst/>
          </a:prstGeom>
          <a:noFill/>
          <a:ln>
            <a:noFill/>
          </a:ln>
        </p:spPr>
      </p:pic>
      <p:pic>
        <p:nvPicPr>
          <p:cNvPr id="93" name="Google Shape;93;p17" title="Screenshot_20260306_163542.png"/>
          <p:cNvPicPr preferRelativeResize="0"/>
          <p:nvPr/>
        </p:nvPicPr>
        <p:blipFill>
          <a:blip r:embed="rId9">
            <a:alphaModFix/>
          </a:blip>
          <a:stretch>
            <a:fillRect/>
          </a:stretch>
        </p:blipFill>
        <p:spPr>
          <a:xfrm>
            <a:off x="8248363" y="2165125"/>
            <a:ext cx="654897" cy="647700"/>
          </a:xfrm>
          <a:prstGeom prst="rect">
            <a:avLst/>
          </a:prstGeom>
          <a:noFill/>
          <a:ln>
            <a:noFill/>
          </a:ln>
        </p:spPr>
      </p:pic>
      <p:pic>
        <p:nvPicPr>
          <p:cNvPr id="94" name="Google Shape;94;p17" title="Screenshot_20260306_163853.png"/>
          <p:cNvPicPr preferRelativeResize="0"/>
          <p:nvPr/>
        </p:nvPicPr>
        <p:blipFill rotWithShape="1">
          <a:blip r:embed="rId10">
            <a:alphaModFix/>
          </a:blip>
          <a:srcRect b="0" l="20781" r="12249" t="18587"/>
          <a:stretch/>
        </p:blipFill>
        <p:spPr>
          <a:xfrm>
            <a:off x="6801450" y="1223363"/>
            <a:ext cx="1352325" cy="480800"/>
          </a:xfrm>
          <a:prstGeom prst="rect">
            <a:avLst/>
          </a:prstGeom>
          <a:noFill/>
          <a:ln>
            <a:noFill/>
          </a:ln>
        </p:spPr>
      </p:pic>
      <p:pic>
        <p:nvPicPr>
          <p:cNvPr id="95" name="Google Shape;95;p17" title="Screenshot_20260306_174027.png"/>
          <p:cNvPicPr preferRelativeResize="0"/>
          <p:nvPr/>
        </p:nvPicPr>
        <p:blipFill>
          <a:blip r:embed="rId11">
            <a:alphaModFix/>
          </a:blip>
          <a:stretch>
            <a:fillRect/>
          </a:stretch>
        </p:blipFill>
        <p:spPr>
          <a:xfrm>
            <a:off x="405500" y="304800"/>
            <a:ext cx="2298141" cy="847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latin typeface="Times New Roman"/>
                <a:ea typeface="Times New Roman"/>
                <a:cs typeface="Times New Roman"/>
                <a:sym typeface="Times New Roman"/>
              </a:rPr>
              <a:t>mmCIF</a:t>
            </a:r>
            <a:endParaRPr>
              <a:latin typeface="Times New Roman"/>
              <a:ea typeface="Times New Roman"/>
              <a:cs typeface="Times New Roman"/>
              <a:sym typeface="Times New Roman"/>
            </a:endParaRPr>
          </a:p>
        </p:txBody>
      </p:sp>
      <p:sp>
        <p:nvSpPr>
          <p:cNvPr id="101" name="Google Shape;101;p18"/>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Clr>
                <a:srgbClr val="000000"/>
              </a:buClr>
              <a:buSzPts val="1300"/>
              <a:buFont typeface="Times New Roman"/>
              <a:buChar char="-"/>
            </a:pPr>
            <a:r>
              <a:rPr lang="tr" sz="1300">
                <a:solidFill>
                  <a:srgbClr val="000000"/>
                </a:solidFill>
                <a:latin typeface="Times New Roman"/>
                <a:ea typeface="Times New Roman"/>
                <a:cs typeface="Times New Roman"/>
                <a:sym typeface="Times New Roman"/>
              </a:rPr>
              <a:t>strukturlar üçün daha zəngin metadata saxlayır: chain/residue annotasiyası, ligand məlumatları və s.</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Times New Roman"/>
              <a:buChar char="-"/>
            </a:pPr>
            <a:r>
              <a:rPr lang="tr" sz="1300">
                <a:solidFill>
                  <a:srgbClr val="000000"/>
                </a:solidFill>
                <a:latin typeface="Times New Roman"/>
                <a:ea typeface="Times New Roman"/>
                <a:cs typeface="Times New Roman"/>
                <a:sym typeface="Times New Roman"/>
              </a:rPr>
              <a:t>( PDBx/mmCIF) bioloji makromolekulların (protein, DNT, RNT və s.) 3D struktur məlumatlarını saxlamaq üçün istifadə olunan standart fayl formatıdır.</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Times New Roman"/>
              <a:buChar char="-"/>
            </a:pPr>
            <a:r>
              <a:rPr lang="tr" sz="1300">
                <a:solidFill>
                  <a:srgbClr val="000000"/>
                </a:solidFill>
                <a:latin typeface="Times New Roman"/>
                <a:ea typeface="Times New Roman"/>
                <a:cs typeface="Times New Roman"/>
                <a:sym typeface="Times New Roman"/>
              </a:rPr>
              <a:t>Böyük strukturları problemsiz saxlayır (minlərlə zəncir, milyonlarla atom)</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Times New Roman"/>
              <a:buChar char="-"/>
            </a:pPr>
            <a:r>
              <a:rPr lang="tr" sz="1300">
                <a:solidFill>
                  <a:srgbClr val="000000"/>
                </a:solidFill>
                <a:latin typeface="Times New Roman"/>
                <a:ea typeface="Times New Roman"/>
                <a:cs typeface="Times New Roman"/>
                <a:sym typeface="Times New Roman"/>
              </a:rPr>
              <a:t>Çox zəngin məlumat saxlayır: kristallografiya şərtləri, ölçmə statistikası, modifikasiyalar, ligandlar, Cryo-EM dataları, AlphaFold modelləri və s.</a:t>
            </a:r>
            <a:endParaRPr sz="1300">
              <a:solidFill>
                <a:srgbClr val="000000"/>
              </a:solidFill>
              <a:latin typeface="Times New Roman"/>
              <a:ea typeface="Times New Roman"/>
              <a:cs typeface="Times New Roman"/>
              <a:sym typeface="Times New Roman"/>
            </a:endParaRPr>
          </a:p>
          <a:p>
            <a:pPr indent="-311150" lvl="0" marL="457200" rtl="0" algn="l">
              <a:spcBef>
                <a:spcPts val="0"/>
              </a:spcBef>
              <a:spcAft>
                <a:spcPts val="0"/>
              </a:spcAft>
              <a:buClr>
                <a:srgbClr val="000000"/>
              </a:buClr>
              <a:buSzPts val="1300"/>
              <a:buFont typeface="Times New Roman"/>
              <a:buChar char="-"/>
            </a:pPr>
            <a:r>
              <a:rPr lang="tr" sz="1300">
                <a:solidFill>
                  <a:srgbClr val="000000"/>
                </a:solidFill>
                <a:latin typeface="Times New Roman"/>
                <a:ea typeface="Times New Roman"/>
                <a:cs typeface="Times New Roman"/>
                <a:sym typeface="Times New Roman"/>
              </a:rPr>
              <a:t>Kompüter proqramları üçün asan oxunur (maşın oxunaqlı)</a:t>
            </a:r>
            <a:endParaRPr sz="1300">
              <a:solidFill>
                <a:srgbClr val="000000"/>
              </a:solidFill>
              <a:latin typeface="Times New Roman"/>
              <a:ea typeface="Times New Roman"/>
              <a:cs typeface="Times New Roman"/>
              <a:sym typeface="Times New Roman"/>
            </a:endParaRPr>
          </a:p>
        </p:txBody>
      </p:sp>
      <p:pic>
        <p:nvPicPr>
          <p:cNvPr id="102" name="Google Shape;102;p18" title="Screenshot_20260306_175725.png"/>
          <p:cNvPicPr preferRelativeResize="0"/>
          <p:nvPr/>
        </p:nvPicPr>
        <p:blipFill>
          <a:blip r:embed="rId3">
            <a:alphaModFix/>
          </a:blip>
          <a:stretch>
            <a:fillRect/>
          </a:stretch>
        </p:blipFill>
        <p:spPr>
          <a:xfrm>
            <a:off x="5654600" y="622950"/>
            <a:ext cx="2752725" cy="37814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132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latin typeface="Times New Roman"/>
                <a:ea typeface="Times New Roman"/>
                <a:cs typeface="Times New Roman"/>
                <a:sym typeface="Times New Roman"/>
              </a:rPr>
              <a:t>Ligand Resname</a:t>
            </a:r>
            <a:endParaRPr>
              <a:latin typeface="Times New Roman"/>
              <a:ea typeface="Times New Roman"/>
              <a:cs typeface="Times New Roman"/>
              <a:sym typeface="Times New Roman"/>
            </a:endParaRPr>
          </a:p>
        </p:txBody>
      </p:sp>
      <p:sp>
        <p:nvSpPr>
          <p:cNvPr id="108" name="Google Shape;108;p19"/>
          <p:cNvSpPr txBox="1"/>
          <p:nvPr>
            <p:ph idx="1" type="body"/>
          </p:nvPr>
        </p:nvSpPr>
        <p:spPr>
          <a:xfrm>
            <a:off x="350775" y="3146825"/>
            <a:ext cx="8091300" cy="17511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852"/>
              <a:buNone/>
            </a:pPr>
            <a:r>
              <a:rPr lang="tr" sz="1107">
                <a:solidFill>
                  <a:schemeClr val="dk1"/>
                </a:solidFill>
                <a:latin typeface="Times New Roman"/>
                <a:ea typeface="Times New Roman"/>
                <a:cs typeface="Times New Roman"/>
                <a:sym typeface="Times New Roman"/>
              </a:rPr>
              <a:t>PDB (Protein Data Bank) fayllarında </a:t>
            </a:r>
            <a:r>
              <a:rPr b="1" lang="tr" sz="1107">
                <a:solidFill>
                  <a:schemeClr val="dk1"/>
                </a:solidFill>
                <a:latin typeface="Times New Roman"/>
                <a:ea typeface="Times New Roman"/>
                <a:cs typeface="Times New Roman"/>
                <a:sym typeface="Times New Roman"/>
              </a:rPr>
              <a:t>resname</a:t>
            </a:r>
            <a:r>
              <a:rPr lang="tr" sz="1107">
                <a:solidFill>
                  <a:schemeClr val="dk1"/>
                </a:solidFill>
                <a:latin typeface="Times New Roman"/>
                <a:ea typeface="Times New Roman"/>
                <a:cs typeface="Times New Roman"/>
                <a:sym typeface="Times New Roman"/>
              </a:rPr>
              <a:t> (residue name) hər bir kimyəvi komponentin (zülal qalığı, ligand, su molekulu və s.) qısa 3 hərfli kod adıdır.</a:t>
            </a:r>
            <a:endParaRPr sz="1107">
              <a:solidFill>
                <a:schemeClr val="dk1"/>
              </a:solidFill>
              <a:latin typeface="Times New Roman"/>
              <a:ea typeface="Times New Roman"/>
              <a:cs typeface="Times New Roman"/>
              <a:sym typeface="Times New Roman"/>
            </a:endParaRPr>
          </a:p>
          <a:p>
            <a:pPr indent="-298926" lvl="0" marL="457200" rtl="0" algn="l">
              <a:lnSpc>
                <a:spcPct val="95000"/>
              </a:lnSpc>
              <a:spcBef>
                <a:spcPts val="1200"/>
              </a:spcBef>
              <a:spcAft>
                <a:spcPts val="0"/>
              </a:spcAft>
              <a:buClr>
                <a:schemeClr val="dk1"/>
              </a:buClr>
              <a:buSzPts val="1108"/>
              <a:buFont typeface="Times New Roman"/>
              <a:buChar char="●"/>
            </a:pPr>
            <a:r>
              <a:rPr lang="tr" sz="1107">
                <a:solidFill>
                  <a:schemeClr val="dk1"/>
                </a:solidFill>
                <a:latin typeface="Times New Roman"/>
                <a:ea typeface="Times New Roman"/>
                <a:cs typeface="Times New Roman"/>
                <a:sym typeface="Times New Roman"/>
              </a:rPr>
              <a:t>Zülalın amin turşuları üçün bu kodlar standartdır (məsələn ALA, GLY, LYS və s.).</a:t>
            </a:r>
            <a:endParaRPr sz="1107">
              <a:solidFill>
                <a:schemeClr val="dk1"/>
              </a:solidFill>
              <a:latin typeface="Times New Roman"/>
              <a:ea typeface="Times New Roman"/>
              <a:cs typeface="Times New Roman"/>
              <a:sym typeface="Times New Roman"/>
            </a:endParaRPr>
          </a:p>
          <a:p>
            <a:pPr indent="-298926" lvl="0" marL="457200" rtl="0" algn="l">
              <a:lnSpc>
                <a:spcPct val="95000"/>
              </a:lnSpc>
              <a:spcBef>
                <a:spcPts val="0"/>
              </a:spcBef>
              <a:spcAft>
                <a:spcPts val="0"/>
              </a:spcAft>
              <a:buClr>
                <a:schemeClr val="dk1"/>
              </a:buClr>
              <a:buSzPts val="1108"/>
              <a:buFont typeface="Arial"/>
              <a:buChar char="●"/>
            </a:pPr>
            <a:r>
              <a:rPr lang="tr" sz="1107">
                <a:solidFill>
                  <a:schemeClr val="dk1"/>
                </a:solidFill>
                <a:latin typeface="Times New Roman"/>
                <a:ea typeface="Times New Roman"/>
                <a:cs typeface="Times New Roman"/>
                <a:sym typeface="Times New Roman"/>
              </a:rPr>
              <a:t>Kiçik molekullar (ligandlar) üçün isə </a:t>
            </a:r>
            <a:r>
              <a:rPr b="1" lang="tr" sz="1107">
                <a:solidFill>
                  <a:schemeClr val="dk1"/>
                </a:solidFill>
                <a:latin typeface="Times New Roman"/>
                <a:ea typeface="Times New Roman"/>
                <a:cs typeface="Times New Roman"/>
                <a:sym typeface="Times New Roman"/>
              </a:rPr>
              <a:t>resname</a:t>
            </a:r>
            <a:r>
              <a:rPr lang="tr" sz="1107">
                <a:solidFill>
                  <a:schemeClr val="dk1"/>
                </a:solidFill>
                <a:latin typeface="Times New Roman"/>
                <a:ea typeface="Times New Roman"/>
                <a:cs typeface="Times New Roman"/>
                <a:sym typeface="Times New Roman"/>
              </a:rPr>
              <a:t> o ligandın xüsusi qısa identifikatorudur (3 hərfli CCD kodu).</a:t>
            </a:r>
            <a:endParaRPr sz="110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852"/>
              <a:buNone/>
            </a:pPr>
            <a:r>
              <a:rPr lang="tr" sz="1107">
                <a:solidFill>
                  <a:schemeClr val="dk1"/>
                </a:solidFill>
                <a:latin typeface="Times New Roman"/>
                <a:ea typeface="Times New Roman"/>
                <a:cs typeface="Times New Roman"/>
                <a:sym typeface="Times New Roman"/>
              </a:rPr>
              <a:t>Yəni "ligand resname" dedikdə, PDB strukturunda ligand kimi qeyd olunan kiçik molekulun residue adı (qısa kodu) nəzərdə tutulur. Məsələn, bir çox dərman molekulu, inhibitor, kofaktor və ya substrat analoqu öz resname koduna malikdir.</a:t>
            </a:r>
            <a:endParaRPr sz="1107">
              <a:solidFill>
                <a:schemeClr val="dk1"/>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852"/>
              <a:buNone/>
            </a:pPr>
            <a:r>
              <a:rPr lang="tr" sz="1107">
                <a:solidFill>
                  <a:schemeClr val="dk1"/>
                </a:solidFill>
                <a:latin typeface="Times New Roman"/>
                <a:ea typeface="Times New Roman"/>
                <a:cs typeface="Times New Roman"/>
                <a:sym typeface="Times New Roman"/>
              </a:rPr>
              <a:t>PDB ID : 1AKE,  ligand : AP5</a:t>
            </a:r>
            <a:endParaRPr sz="1107">
              <a:solidFill>
                <a:schemeClr val="dk1"/>
              </a:solidFill>
              <a:latin typeface="Times New Roman"/>
              <a:ea typeface="Times New Roman"/>
              <a:cs typeface="Times New Roman"/>
              <a:sym typeface="Times New Roman"/>
            </a:endParaRPr>
          </a:p>
        </p:txBody>
      </p:sp>
      <p:pic>
        <p:nvPicPr>
          <p:cNvPr id="109" name="Google Shape;109;p19" title="Screenshot_20260306_180427.png"/>
          <p:cNvPicPr preferRelativeResize="0"/>
          <p:nvPr/>
        </p:nvPicPr>
        <p:blipFill>
          <a:blip r:embed="rId3">
            <a:alphaModFix/>
          </a:blip>
          <a:stretch>
            <a:fillRect/>
          </a:stretch>
        </p:blipFill>
        <p:spPr>
          <a:xfrm>
            <a:off x="256000" y="741950"/>
            <a:ext cx="8520600" cy="240487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tr">
                <a:latin typeface="Times New Roman"/>
                <a:ea typeface="Times New Roman"/>
                <a:cs typeface="Times New Roman"/>
                <a:sym typeface="Times New Roman"/>
              </a:rPr>
              <a:t>Rg (Radius of Gyration) - Dönmə Radiusu</a:t>
            </a:r>
            <a:endParaRPr>
              <a:latin typeface="Times New Roman"/>
              <a:ea typeface="Times New Roman"/>
              <a:cs typeface="Times New Roman"/>
              <a:sym typeface="Times New Roman"/>
            </a:endParaRPr>
          </a:p>
          <a:p>
            <a:pPr indent="0" lvl="0" marL="0" rtl="0" algn="l">
              <a:spcBef>
                <a:spcPts val="1200"/>
              </a:spcBef>
              <a:spcAft>
                <a:spcPts val="0"/>
              </a:spcAft>
              <a:buNone/>
            </a:pPr>
            <a:r>
              <a:t/>
            </a:r>
            <a:endParaRPr>
              <a:latin typeface="Times New Roman"/>
              <a:ea typeface="Times New Roman"/>
              <a:cs typeface="Times New Roman"/>
              <a:sym typeface="Times New Roman"/>
            </a:endParaRPr>
          </a:p>
        </p:txBody>
      </p:sp>
      <p:sp>
        <p:nvSpPr>
          <p:cNvPr id="115" name="Google Shape;115;p20"/>
          <p:cNvSpPr txBox="1"/>
          <p:nvPr>
            <p:ph idx="1" type="body"/>
          </p:nvPr>
        </p:nvSpPr>
        <p:spPr>
          <a:xfrm>
            <a:off x="311700" y="1152475"/>
            <a:ext cx="4057800" cy="37410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tr" sz="1100">
                <a:solidFill>
                  <a:srgbClr val="000000"/>
                </a:solidFill>
                <a:latin typeface="Arial"/>
                <a:ea typeface="Arial"/>
                <a:cs typeface="Arial"/>
                <a:sym typeface="Arial"/>
              </a:rPr>
              <a:t>Nədir?</a:t>
            </a:r>
            <a:r>
              <a:rPr lang="tr" sz="1100">
                <a:solidFill>
                  <a:srgbClr val="000000"/>
                </a:solidFill>
                <a:latin typeface="Arial"/>
                <a:ea typeface="Arial"/>
                <a:cs typeface="Arial"/>
                <a:sym typeface="Arial"/>
              </a:rPr>
              <a:t> Protein molekulunun atomlarının </a:t>
            </a:r>
            <a:r>
              <a:rPr b="1" lang="tr" sz="1100">
                <a:solidFill>
                  <a:srgbClr val="000000"/>
                </a:solidFill>
                <a:latin typeface="Arial"/>
                <a:ea typeface="Arial"/>
                <a:cs typeface="Arial"/>
                <a:sym typeface="Arial"/>
              </a:rPr>
              <a:t>center of mass</a:t>
            </a:r>
            <a:r>
              <a:rPr lang="tr" sz="1100">
                <a:solidFill>
                  <a:srgbClr val="000000"/>
                </a:solidFill>
                <a:latin typeface="Arial"/>
                <a:ea typeface="Arial"/>
                <a:cs typeface="Arial"/>
                <a:sym typeface="Arial"/>
              </a:rPr>
              <a:t> (kütlə mərkəzi) ətrafında orta yayılma məsafəsini ölçür. Rəsmi tərif: Kütlənin root-mean-square (RMS) məsafəsi mərkəzdən (center of mass) bütün atomlara qədər.</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tr" sz="1100">
                <a:solidFill>
                  <a:srgbClr val="000000"/>
                </a:solidFill>
                <a:latin typeface="Arial"/>
                <a:ea typeface="Arial"/>
                <a:cs typeface="Arial"/>
                <a:sym typeface="Arial"/>
              </a:rPr>
              <a:t>Bioloji mənası:</a:t>
            </a:r>
            <a:endParaRPr b="1" sz="1100">
              <a:solidFill>
                <a:srgbClr val="000000"/>
              </a:solidFill>
              <a:latin typeface="Arial"/>
              <a:ea typeface="Arial"/>
              <a:cs typeface="Arial"/>
              <a:sym typeface="Arial"/>
            </a:endParaRPr>
          </a:p>
          <a:p>
            <a:pPr indent="-282733" lvl="0" marL="457200" rtl="0" algn="l">
              <a:spcBef>
                <a:spcPts val="1200"/>
              </a:spcBef>
              <a:spcAft>
                <a:spcPts val="0"/>
              </a:spcAft>
              <a:buClr>
                <a:srgbClr val="000000"/>
              </a:buClr>
              <a:buSzPct val="100000"/>
              <a:buFont typeface="Arial"/>
              <a:buChar char="●"/>
            </a:pPr>
            <a:r>
              <a:rPr lang="tr" sz="1100">
                <a:solidFill>
                  <a:srgbClr val="000000"/>
                </a:solidFill>
                <a:latin typeface="Arial"/>
                <a:ea typeface="Arial"/>
                <a:cs typeface="Arial"/>
                <a:sym typeface="Arial"/>
              </a:rPr>
              <a:t>Aşağı Rg → Protein </a:t>
            </a:r>
            <a:r>
              <a:rPr b="1" lang="tr" sz="1100">
                <a:solidFill>
                  <a:srgbClr val="000000"/>
                </a:solidFill>
                <a:latin typeface="Arial"/>
                <a:ea typeface="Arial"/>
                <a:cs typeface="Arial"/>
                <a:sym typeface="Arial"/>
              </a:rPr>
              <a:t>kompakt</a:t>
            </a:r>
            <a:r>
              <a:rPr lang="tr" sz="1100">
                <a:solidFill>
                  <a:srgbClr val="000000"/>
                </a:solidFill>
                <a:latin typeface="Arial"/>
                <a:ea typeface="Arial"/>
                <a:cs typeface="Arial"/>
                <a:sym typeface="Arial"/>
              </a:rPr>
              <a:t> (sıx qatlanmış, folded) vəziyyətdədir</a:t>
            </a:r>
            <a:r>
              <a:rPr lang="tr" sz="1100">
                <a:solidFill>
                  <a:srgbClr val="000000"/>
                </a:solidFill>
                <a:latin typeface="Arial"/>
                <a:ea typeface="Arial"/>
                <a:cs typeface="Arial"/>
                <a:sym typeface="Arial"/>
              </a:rPr>
              <a:t> →</a:t>
            </a:r>
            <a:r>
              <a:rPr lang="tr" sz="1100">
                <a:solidFill>
                  <a:srgbClr val="000000"/>
                </a:solidFill>
                <a:latin typeface="Arial"/>
                <a:ea typeface="Arial"/>
                <a:cs typeface="Arial"/>
                <a:sym typeface="Arial"/>
              </a:rPr>
              <a:t> Natürəl (native) struktura yaxındır.</a:t>
            </a: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lang="tr" sz="1100">
                <a:solidFill>
                  <a:srgbClr val="000000"/>
                </a:solidFill>
                <a:latin typeface="Arial"/>
                <a:ea typeface="Arial"/>
                <a:cs typeface="Arial"/>
                <a:sym typeface="Arial"/>
              </a:rPr>
              <a:t>Yüksək Rg → Protein </a:t>
            </a:r>
            <a:r>
              <a:rPr b="1" lang="tr" sz="1100">
                <a:solidFill>
                  <a:srgbClr val="000000"/>
                </a:solidFill>
                <a:latin typeface="Arial"/>
                <a:ea typeface="Arial"/>
                <a:cs typeface="Arial"/>
                <a:sym typeface="Arial"/>
              </a:rPr>
              <a:t>genişlənmiş</a:t>
            </a:r>
            <a:r>
              <a:rPr lang="tr" sz="1100">
                <a:solidFill>
                  <a:srgbClr val="000000"/>
                </a:solidFill>
                <a:latin typeface="Arial"/>
                <a:ea typeface="Arial"/>
                <a:cs typeface="Arial"/>
                <a:sym typeface="Arial"/>
              </a:rPr>
              <a:t> (spread out, unfolded və ya partially unfolded) vəziyyətdədir → Denaturasiya, mutasiya effekti və ya ligand binding zamanı konformasiya dəyişikliyi ola bilər.</a:t>
            </a: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lang="tr" sz="1100">
                <a:solidFill>
                  <a:srgbClr val="000000"/>
                </a:solidFill>
                <a:latin typeface="Arial"/>
                <a:ea typeface="Arial"/>
                <a:cs typeface="Arial"/>
                <a:sym typeface="Arial"/>
              </a:rPr>
              <a:t>Tipik dəyərlər: Globular proteinlər üçün Rg adətən 10–40 Å arası olur (protein ölçüsündən asılı olaraq).</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tr" sz="1100">
                <a:solidFill>
                  <a:srgbClr val="000000"/>
                </a:solidFill>
                <a:latin typeface="Arial"/>
                <a:ea typeface="Arial"/>
                <a:cs typeface="Arial"/>
                <a:sym typeface="Arial"/>
              </a:rPr>
              <a:t>Protein-ligand kontekstində niyə vacibdir?</a:t>
            </a:r>
            <a:endParaRPr b="1" sz="1100">
              <a:solidFill>
                <a:srgbClr val="000000"/>
              </a:solidFill>
              <a:latin typeface="Arial"/>
              <a:ea typeface="Arial"/>
              <a:cs typeface="Arial"/>
              <a:sym typeface="Arial"/>
            </a:endParaRPr>
          </a:p>
          <a:p>
            <a:pPr indent="-282733" lvl="0" marL="457200" rtl="0" algn="l">
              <a:spcBef>
                <a:spcPts val="1200"/>
              </a:spcBef>
              <a:spcAft>
                <a:spcPts val="0"/>
              </a:spcAft>
              <a:buClr>
                <a:srgbClr val="000000"/>
              </a:buClr>
              <a:buSzPct val="100000"/>
              <a:buFont typeface="Arial"/>
              <a:buChar char="●"/>
            </a:pPr>
            <a:r>
              <a:rPr lang="tr" sz="1100">
                <a:solidFill>
                  <a:srgbClr val="000000"/>
                </a:solidFill>
                <a:latin typeface="Arial"/>
                <a:ea typeface="Arial"/>
                <a:cs typeface="Arial"/>
                <a:sym typeface="Arial"/>
              </a:rPr>
              <a:t>Ligand bağlandıqda protein daha stabilləşə bilər → Rg azalır (kompaktlaşır).</a:t>
            </a:r>
            <a:endParaRPr sz="1100">
              <a:solidFill>
                <a:srgbClr val="000000"/>
              </a:solidFill>
              <a:latin typeface="Arial"/>
              <a:ea typeface="Arial"/>
              <a:cs typeface="Arial"/>
              <a:sym typeface="Arial"/>
            </a:endParaRPr>
          </a:p>
          <a:p>
            <a:pPr indent="-282733" lvl="0" marL="457200" rtl="0" algn="l">
              <a:spcBef>
                <a:spcPts val="0"/>
              </a:spcBef>
              <a:spcAft>
                <a:spcPts val="0"/>
              </a:spcAft>
              <a:buClr>
                <a:srgbClr val="000000"/>
              </a:buClr>
              <a:buSzPct val="100000"/>
              <a:buFont typeface="Arial"/>
              <a:buChar char="●"/>
            </a:pPr>
            <a:r>
              <a:rPr lang="tr" sz="1100">
                <a:solidFill>
                  <a:srgbClr val="000000"/>
                </a:solidFill>
                <a:latin typeface="Arial"/>
                <a:ea typeface="Arial"/>
                <a:cs typeface="Arial"/>
                <a:sym typeface="Arial"/>
              </a:rPr>
              <a:t>MDAnalysis-də radius_of_gyration() funksiyası ilə hesablanır → MD simulasiyalarında və ya statik PDB strukturlarında folding stabilliyini qiymətləndirmək üçün istifadə olunur.</a:t>
            </a:r>
            <a:endParaRPr sz="1100">
              <a:solidFill>
                <a:srgbClr val="000000"/>
              </a:solidFill>
              <a:latin typeface="Arial"/>
              <a:ea typeface="Arial"/>
              <a:cs typeface="Arial"/>
              <a:sym typeface="Arial"/>
            </a:endParaRPr>
          </a:p>
          <a:p>
            <a:pPr indent="0" lvl="0" marL="0" rtl="0" algn="l">
              <a:spcBef>
                <a:spcPts val="1200"/>
              </a:spcBef>
              <a:spcAft>
                <a:spcPts val="0"/>
              </a:spcAft>
              <a:buNone/>
            </a:pPr>
            <a:r>
              <a:rPr b="1" lang="tr" sz="1100">
                <a:solidFill>
                  <a:srgbClr val="000000"/>
                </a:solidFill>
                <a:latin typeface="Arial"/>
                <a:ea typeface="Arial"/>
                <a:cs typeface="Arial"/>
                <a:sym typeface="Arial"/>
              </a:rPr>
              <a:t>Nümunə:</a:t>
            </a:r>
            <a:r>
              <a:rPr lang="tr" sz="1100">
                <a:solidFill>
                  <a:srgbClr val="000000"/>
                </a:solidFill>
                <a:latin typeface="Arial"/>
                <a:ea typeface="Arial"/>
                <a:cs typeface="Arial"/>
                <a:sym typeface="Arial"/>
              </a:rPr>
              <a:t> Bir chaperone proteinində ligand bağlanması Rg-ni ~2–3 Å azalda bilər → bu, ligandın folding-i dəstəklədiyini göstərir.</a:t>
            </a:r>
            <a:endParaRPr/>
          </a:p>
        </p:txBody>
      </p:sp>
      <p:pic>
        <p:nvPicPr>
          <p:cNvPr id="116" name="Google Shape;116;p20"/>
          <p:cNvPicPr preferRelativeResize="0"/>
          <p:nvPr/>
        </p:nvPicPr>
        <p:blipFill>
          <a:blip r:embed="rId3">
            <a:alphaModFix/>
          </a:blip>
          <a:stretch>
            <a:fillRect/>
          </a:stretch>
        </p:blipFill>
        <p:spPr>
          <a:xfrm>
            <a:off x="4521900" y="1170125"/>
            <a:ext cx="4469701" cy="33981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280875"/>
            <a:ext cx="8520600" cy="782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SzPts val="990"/>
              <a:buNone/>
            </a:pPr>
            <a:r>
              <a:rPr lang="tr" sz="2020">
                <a:latin typeface="Times New Roman"/>
                <a:ea typeface="Times New Roman"/>
                <a:cs typeface="Times New Roman"/>
                <a:sym typeface="Times New Roman"/>
              </a:rPr>
              <a:t>COM Distance (Center of Mass Distance) — Protein və Ligandın Kütlə Mərkəzləri Arası Məsafə</a:t>
            </a:r>
            <a:endParaRPr sz="2020">
              <a:latin typeface="Times New Roman"/>
              <a:ea typeface="Times New Roman"/>
              <a:cs typeface="Times New Roman"/>
              <a:sym typeface="Times New Roman"/>
            </a:endParaRPr>
          </a:p>
        </p:txBody>
      </p:sp>
      <p:sp>
        <p:nvSpPr>
          <p:cNvPr id="122" name="Google Shape;122;p21"/>
          <p:cNvSpPr txBox="1"/>
          <p:nvPr>
            <p:ph idx="1" type="body"/>
          </p:nvPr>
        </p:nvSpPr>
        <p:spPr>
          <a:xfrm>
            <a:off x="311700" y="1344500"/>
            <a:ext cx="8520600" cy="3224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000000"/>
              </a:buClr>
              <a:buSzPts val="1100"/>
              <a:buFont typeface="Arial"/>
              <a:buChar char="●"/>
            </a:pPr>
            <a:r>
              <a:rPr b="1" lang="tr" sz="1100">
                <a:solidFill>
                  <a:srgbClr val="000000"/>
                </a:solidFill>
                <a:latin typeface="Arial"/>
                <a:ea typeface="Arial"/>
                <a:cs typeface="Arial"/>
                <a:sym typeface="Arial"/>
              </a:rPr>
              <a:t>Nədir?</a:t>
            </a:r>
            <a:r>
              <a:rPr lang="tr" sz="1100">
                <a:solidFill>
                  <a:srgbClr val="000000"/>
                </a:solidFill>
                <a:latin typeface="Arial"/>
                <a:ea typeface="Arial"/>
                <a:cs typeface="Arial"/>
                <a:sym typeface="Arial"/>
              </a:rPr>
              <a:t> Protein atomlarının kütlə mərkəzi (COM) ilə ligand atomlarının COM-u arasındakı Euclidean məsafə (Å ilə).</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Arial"/>
                <a:ea typeface="Arial"/>
                <a:cs typeface="Arial"/>
                <a:sym typeface="Arial"/>
              </a:rPr>
              <a:t>Bioloji mənası:</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Bu məsafə </a:t>
            </a:r>
            <a:r>
              <a:rPr b="1" lang="tr" sz="1100">
                <a:solidFill>
                  <a:srgbClr val="000000"/>
                </a:solidFill>
                <a:latin typeface="Arial"/>
                <a:ea typeface="Arial"/>
                <a:cs typeface="Arial"/>
                <a:sym typeface="Arial"/>
              </a:rPr>
              <a:t>protein-ligand binding yaxınlığını</a:t>
            </a:r>
            <a:r>
              <a:rPr lang="tr" sz="1100">
                <a:solidFill>
                  <a:srgbClr val="000000"/>
                </a:solidFill>
                <a:latin typeface="Arial"/>
                <a:ea typeface="Arial"/>
                <a:cs typeface="Arial"/>
                <a:sym typeface="Arial"/>
              </a:rPr>
              <a:t> təxmini göstərir.</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Tipik dəyərlər:</a:t>
            </a:r>
            <a:endParaRPr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&lt; 5–8 Å → Ligand aktiv site-da və ya binding pocket-dadır → Güclü potensial interaksiya.</a:t>
            </a:r>
            <a:endParaRPr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10–15 Å → Ligand yaxınlıqdadır, amma hələ dəqiq bağlanmayıb.</a:t>
            </a:r>
            <a:endParaRPr sz="1100">
              <a:solidFill>
                <a:srgbClr val="000000"/>
              </a:solidFill>
              <a:latin typeface="Arial"/>
              <a:ea typeface="Arial"/>
              <a:cs typeface="Arial"/>
              <a:sym typeface="Arial"/>
            </a:endParaRPr>
          </a:p>
          <a:p>
            <a:pPr indent="-298450" lvl="2" marL="13716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20 Å → Ligand uzaqdır, interaksiya zəif və ya yoxdur.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Arial"/>
                <a:ea typeface="Arial"/>
                <a:cs typeface="Arial"/>
                <a:sym typeface="Arial"/>
              </a:rPr>
              <a:t>Protein-ligand kontekstində niyə vacibdir?</a:t>
            </a:r>
            <a:endParaRPr b="1"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MDAnalysis-də center_of_mass() ilə hesablanır → Protein və ligand qruplarını ayrı seçib norması alınır.</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Docking skorlarının ilkin filtrində, MD-də ligandın stabilliyini izləmək üçün istifadə olunur.</a:t>
            </a:r>
            <a:endParaRPr sz="1100">
              <a:solidFill>
                <a:srgbClr val="000000"/>
              </a:solidFill>
              <a:latin typeface="Arial"/>
              <a:ea typeface="Arial"/>
              <a:cs typeface="Arial"/>
              <a:sym typeface="Arial"/>
            </a:endParaRPr>
          </a:p>
          <a:p>
            <a:pPr indent="-298450" lvl="1" marL="914400" rtl="0" algn="l">
              <a:spcBef>
                <a:spcPts val="0"/>
              </a:spcBef>
              <a:spcAft>
                <a:spcPts val="0"/>
              </a:spcAft>
              <a:buClr>
                <a:srgbClr val="000000"/>
              </a:buClr>
              <a:buSzPts val="1100"/>
              <a:buFont typeface="Arial"/>
              <a:buChar char="○"/>
            </a:pPr>
            <a:r>
              <a:rPr lang="tr" sz="1100">
                <a:solidFill>
                  <a:srgbClr val="000000"/>
                </a:solidFill>
                <a:latin typeface="Arial"/>
                <a:ea typeface="Arial"/>
                <a:cs typeface="Arial"/>
                <a:sym typeface="Arial"/>
              </a:rPr>
              <a:t>Qeyd: Bu sadəcə bir göstəricidir — real binding affinity üçün hydrogen bond, hydrophobic contacts, vd. daha dəqiqdir.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Arial"/>
                <a:ea typeface="Arial"/>
                <a:cs typeface="Arial"/>
                <a:sym typeface="Arial"/>
              </a:rPr>
              <a:t>Nümunə:</a:t>
            </a:r>
            <a:r>
              <a:rPr lang="tr" sz="1100">
                <a:solidFill>
                  <a:srgbClr val="000000"/>
                </a:solidFill>
                <a:latin typeface="Arial"/>
                <a:ea typeface="Arial"/>
                <a:cs typeface="Arial"/>
                <a:sym typeface="Arial"/>
              </a:rPr>
              <a:t> Bir kinaz inhibitoru (məsələn, imatinib) bağlandıqda COM distance ~4–6 Å olur → bu, aktiv site-da olduğunu təsdiqləyir.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1200"/>
              </a:spcAft>
              <a:buNone/>
            </a:pPr>
            <a:r>
              <a:rPr lang="tr">
                <a:latin typeface="Times New Roman"/>
                <a:ea typeface="Times New Roman"/>
                <a:cs typeface="Times New Roman"/>
                <a:sym typeface="Times New Roman"/>
              </a:rPr>
              <a:t>Lipinski Qaydaları (Lipinski's Rule of Five — Ro5)</a:t>
            </a:r>
            <a:endParaRPr>
              <a:latin typeface="Times New Roman"/>
              <a:ea typeface="Times New Roman"/>
              <a:cs typeface="Times New Roman"/>
              <a:sym typeface="Times New Roman"/>
            </a:endParaRPr>
          </a:p>
        </p:txBody>
      </p:sp>
      <p:sp>
        <p:nvSpPr>
          <p:cNvPr id="128" name="Google Shape;128;p22"/>
          <p:cNvSpPr txBox="1"/>
          <p:nvPr>
            <p:ph idx="1" type="body"/>
          </p:nvPr>
        </p:nvSpPr>
        <p:spPr>
          <a:xfrm>
            <a:off x="311700" y="1152475"/>
            <a:ext cx="29793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SzPts val="688"/>
              <a:buNone/>
            </a:pPr>
            <a:r>
              <a:rPr lang="tr" sz="1225">
                <a:solidFill>
                  <a:schemeClr val="dk1"/>
                </a:solidFill>
                <a:latin typeface="Times New Roman"/>
                <a:ea typeface="Times New Roman"/>
                <a:cs typeface="Times New Roman"/>
                <a:sym typeface="Times New Roman"/>
              </a:rPr>
              <a:t>1</a:t>
            </a:r>
            <a:r>
              <a:rPr lang="tr" sz="1225">
                <a:solidFill>
                  <a:schemeClr val="dk1"/>
                </a:solidFill>
                <a:latin typeface="Times New Roman"/>
                <a:ea typeface="Times New Roman"/>
                <a:cs typeface="Times New Roman"/>
                <a:sym typeface="Times New Roman"/>
              </a:rPr>
              <a:t>997-ci ildə Christopher Lipinski tərəfindən təklif edilmiş empirik qayda. Oral (ağızdan qəbul edilən) dərmanların bioavailability (bədəndə udulma qabiliyyəti) ehtimalını proqnozlaşdırmaq üçün istifadə olunur. </a:t>
            </a:r>
            <a:endParaRPr sz="1225">
              <a:solidFill>
                <a:schemeClr val="dk1"/>
              </a:solidFill>
              <a:latin typeface="Times New Roman"/>
              <a:ea typeface="Times New Roman"/>
              <a:cs typeface="Times New Roman"/>
              <a:sym typeface="Times New Roman"/>
            </a:endParaRPr>
          </a:p>
          <a:p>
            <a:pPr indent="0" lvl="0" marL="0" rtl="0" algn="l">
              <a:spcBef>
                <a:spcPts val="1200"/>
              </a:spcBef>
              <a:spcAft>
                <a:spcPts val="0"/>
              </a:spcAft>
              <a:buSzPts val="688"/>
              <a:buNone/>
            </a:pPr>
            <a:r>
              <a:rPr lang="tr" sz="1225">
                <a:solidFill>
                  <a:schemeClr val="dk1"/>
                </a:solidFill>
                <a:latin typeface="Times New Roman"/>
                <a:ea typeface="Times New Roman"/>
                <a:cs typeface="Times New Roman"/>
                <a:sym typeface="Times New Roman"/>
              </a:rPr>
              <a:t>Qaydanın məntiqi: Bir molekul 2-dən çox bu limitləri pozarsa, oral bioavailability aşağı ehtimal olunur (poor absorption/permeation).</a:t>
            </a:r>
            <a:endParaRPr sz="1225">
              <a:solidFill>
                <a:schemeClr val="dk1"/>
              </a:solidFill>
              <a:latin typeface="Times New Roman"/>
              <a:ea typeface="Times New Roman"/>
              <a:cs typeface="Times New Roman"/>
              <a:sym typeface="Times New Roman"/>
            </a:endParaRPr>
          </a:p>
          <a:p>
            <a:pPr indent="0" lvl="0" marL="0" rtl="0" algn="l">
              <a:spcBef>
                <a:spcPts val="1200"/>
              </a:spcBef>
              <a:spcAft>
                <a:spcPts val="0"/>
              </a:spcAft>
              <a:buSzPts val="688"/>
              <a:buNone/>
            </a:pPr>
            <a:r>
              <a:rPr lang="tr" sz="1225">
                <a:solidFill>
                  <a:schemeClr val="dk1"/>
                </a:solidFill>
                <a:latin typeface="Times New Roman"/>
                <a:ea typeface="Times New Roman"/>
                <a:cs typeface="Times New Roman"/>
                <a:sym typeface="Times New Roman"/>
              </a:rPr>
              <a:t>RDKit-də Descriptors.MolWt(), MolLogP(), NumHDonors(), NumHAcceptors() ilə birbaşa hesablanır.</a:t>
            </a:r>
            <a:endParaRPr sz="1225">
              <a:solidFill>
                <a:schemeClr val="dk1"/>
              </a:solidFill>
              <a:latin typeface="Times New Roman"/>
              <a:ea typeface="Times New Roman"/>
              <a:cs typeface="Times New Roman"/>
              <a:sym typeface="Times New Roman"/>
            </a:endParaRPr>
          </a:p>
          <a:p>
            <a:pPr indent="0" lvl="0" marL="0" rtl="0" algn="l">
              <a:spcBef>
                <a:spcPts val="1200"/>
              </a:spcBef>
              <a:spcAft>
                <a:spcPts val="1200"/>
              </a:spcAft>
              <a:buSzPts val="688"/>
              <a:buNone/>
            </a:pPr>
            <a:r>
              <a:rPr lang="tr" sz="1225">
                <a:solidFill>
                  <a:schemeClr val="dk1"/>
                </a:solidFill>
                <a:latin typeface="Times New Roman"/>
                <a:ea typeface="Times New Roman"/>
                <a:cs typeface="Times New Roman"/>
                <a:sym typeface="Times New Roman"/>
              </a:rPr>
              <a:t>Aspirin (MolWt ~180, LogP ~1.2, HBD 1, HBA 4) — bütün limitlərə uyğundur → klassik oral dərman.</a:t>
            </a:r>
            <a:endParaRPr sz="1225">
              <a:solidFill>
                <a:schemeClr val="dk1"/>
              </a:solidFill>
              <a:latin typeface="Times New Roman"/>
              <a:ea typeface="Times New Roman"/>
              <a:cs typeface="Times New Roman"/>
              <a:sym typeface="Times New Roman"/>
            </a:endParaRPr>
          </a:p>
        </p:txBody>
      </p:sp>
      <p:pic>
        <p:nvPicPr>
          <p:cNvPr id="129" name="Google Shape;129;p22"/>
          <p:cNvPicPr preferRelativeResize="0"/>
          <p:nvPr/>
        </p:nvPicPr>
        <p:blipFill>
          <a:blip r:embed="rId3">
            <a:alphaModFix/>
          </a:blip>
          <a:stretch>
            <a:fillRect/>
          </a:stretch>
        </p:blipFill>
        <p:spPr>
          <a:xfrm>
            <a:off x="3702749" y="1469575"/>
            <a:ext cx="5277100" cy="29000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latin typeface="Times New Roman"/>
                <a:ea typeface="Times New Roman"/>
                <a:cs typeface="Times New Roman"/>
                <a:sym typeface="Times New Roman"/>
              </a:rPr>
              <a:t>Descriptors (you can see more details at the notebook)</a:t>
            </a:r>
            <a:endParaRPr>
              <a:latin typeface="Times New Roman"/>
              <a:ea typeface="Times New Roman"/>
              <a:cs typeface="Times New Roman"/>
              <a:sym typeface="Times New Roman"/>
            </a:endParaRPr>
          </a:p>
        </p:txBody>
      </p:sp>
      <p:sp>
        <p:nvSpPr>
          <p:cNvPr id="135" name="Google Shape;13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tr" sz="1100">
                <a:solidFill>
                  <a:srgbClr val="000000"/>
                </a:solidFill>
                <a:latin typeface="Times New Roman"/>
                <a:ea typeface="Times New Roman"/>
                <a:cs typeface="Times New Roman"/>
                <a:sym typeface="Times New Roman"/>
              </a:rPr>
              <a:t>Bu descriptor-lar ligandın ‘yaxşı’ olduğunu sübut etmir. Bu, yalnız standartlaşdırılmış kimyəvi xülasədir və müqayisə/filtrləmə üçün faydalıdır : </a:t>
            </a:r>
            <a:endParaRPr b="1" sz="1100">
              <a:solidFill>
                <a:srgbClr val="000000"/>
              </a:solidFill>
              <a:latin typeface="Times New Roman"/>
              <a:ea typeface="Times New Roman"/>
              <a:cs typeface="Times New Roman"/>
              <a:sym typeface="Times New Roman"/>
            </a:endParaRPr>
          </a:p>
          <a:p>
            <a:pPr indent="-298450" lvl="0" marL="457200" rtl="0" algn="l">
              <a:spcBef>
                <a:spcPts val="120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MolWt (Molecular Weight)</a:t>
            </a:r>
            <a:r>
              <a:rPr lang="tr" sz="1100">
                <a:solidFill>
                  <a:srgbClr val="000000"/>
                </a:solidFill>
                <a:latin typeface="Times New Roman"/>
                <a:ea typeface="Times New Roman"/>
                <a:cs typeface="Times New Roman"/>
                <a:sym typeface="Times New Roman"/>
              </a:rPr>
              <a:t>: “Molekulun ölçüsünə proxy; böyük molekulların diffuziya və bioavailability profili fərqli ola bilər.”</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LogP</a:t>
            </a:r>
            <a:r>
              <a:rPr lang="tr" sz="1100">
                <a:solidFill>
                  <a:srgbClr val="000000"/>
                </a:solidFill>
                <a:latin typeface="Times New Roman"/>
                <a:ea typeface="Times New Roman"/>
                <a:cs typeface="Times New Roman"/>
                <a:sym typeface="Times New Roman"/>
              </a:rPr>
              <a:t>: “Hidrofobluq ölçüsü; membran keçidi, solubility və binding mühiti ilə əlaqəli ola bilər.”</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HDonors (HBD)</a:t>
            </a:r>
            <a:r>
              <a:rPr lang="tr" sz="1100">
                <a:solidFill>
                  <a:srgbClr val="000000"/>
                </a:solidFill>
                <a:latin typeface="Times New Roman"/>
                <a:ea typeface="Times New Roman"/>
                <a:cs typeface="Times New Roman"/>
                <a:sym typeface="Times New Roman"/>
              </a:rPr>
              <a:t>: “Hidrogen bağ donoru sayı; protein-ligand H-bond potensialı haqqında ipucu verir.”</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HAcceptors (HBA)</a:t>
            </a:r>
            <a:r>
              <a:rPr lang="tr" sz="1100">
                <a:solidFill>
                  <a:srgbClr val="000000"/>
                </a:solidFill>
                <a:latin typeface="Times New Roman"/>
                <a:ea typeface="Times New Roman"/>
                <a:cs typeface="Times New Roman"/>
                <a:sym typeface="Times New Roman"/>
              </a:rPr>
              <a:t>: “Hidrogen bağ akseptoru sayı; yenə H-bond şəbəkəsinə təsir edir.”</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RotBonds</a:t>
            </a:r>
            <a:r>
              <a:rPr lang="tr" sz="1100">
                <a:solidFill>
                  <a:srgbClr val="000000"/>
                </a:solidFill>
                <a:latin typeface="Times New Roman"/>
                <a:ea typeface="Times New Roman"/>
                <a:cs typeface="Times New Roman"/>
                <a:sym typeface="Times New Roman"/>
              </a:rPr>
              <a:t>: “Rotasiya edə bilən bağlar → molekul elastikliyi; çox elastik ligand docking-də entropy penalty və uyğunlaşma məsələləri yarada bilər.”</a:t>
            </a: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TPSA</a:t>
            </a:r>
            <a:r>
              <a:rPr lang="tr" sz="1100">
                <a:solidFill>
                  <a:srgbClr val="000000"/>
                </a:solidFill>
                <a:latin typeface="Times New Roman"/>
                <a:ea typeface="Times New Roman"/>
                <a:cs typeface="Times New Roman"/>
                <a:sym typeface="Times New Roman"/>
              </a:rPr>
              <a:t>: “Polar səth sahəsi; solubility/permeability və ümumi polar xarakter üçün güclü göstəricidir.</a:t>
            </a:r>
            <a:endParaRPr sz="1100">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latin typeface="Times New Roman"/>
                <a:ea typeface="Times New Roman"/>
                <a:cs typeface="Times New Roman"/>
                <a:sym typeface="Times New Roman"/>
              </a:rPr>
              <a:t>PPBuilder nədir?</a:t>
            </a:r>
            <a:endParaRPr>
              <a:latin typeface="Times New Roman"/>
              <a:ea typeface="Times New Roman"/>
              <a:cs typeface="Times New Roman"/>
              <a:sym typeface="Times New Roman"/>
            </a:endParaRPr>
          </a:p>
        </p:txBody>
      </p:sp>
      <p:sp>
        <p:nvSpPr>
          <p:cNvPr id="141" name="Google Shape;14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tr" sz="1100">
                <a:solidFill>
                  <a:schemeClr val="dk1"/>
                </a:solidFill>
                <a:latin typeface="Times New Roman"/>
                <a:ea typeface="Times New Roman"/>
                <a:cs typeface="Times New Roman"/>
                <a:sym typeface="Times New Roman"/>
              </a:rPr>
              <a:t>BioPython-un Bio.PDB modulundakı sinifdir: PDB/mmCIF strukturundan </a:t>
            </a:r>
            <a:r>
              <a:rPr b="1" lang="tr" sz="1100">
                <a:solidFill>
                  <a:schemeClr val="dk1"/>
                </a:solidFill>
                <a:latin typeface="Times New Roman"/>
                <a:ea typeface="Times New Roman"/>
                <a:cs typeface="Times New Roman"/>
                <a:sym typeface="Times New Roman"/>
              </a:rPr>
              <a:t>protein “peptid zəncirləri”ni</a:t>
            </a:r>
            <a:r>
              <a:rPr lang="tr" sz="1100">
                <a:solidFill>
                  <a:schemeClr val="dk1"/>
                </a:solidFill>
                <a:latin typeface="Times New Roman"/>
                <a:ea typeface="Times New Roman"/>
                <a:cs typeface="Times New Roman"/>
                <a:sym typeface="Times New Roman"/>
              </a:rPr>
              <a:t> (peptides) tanıyıb onlardan </a:t>
            </a:r>
            <a:r>
              <a:rPr b="1" lang="tr" sz="1100">
                <a:solidFill>
                  <a:schemeClr val="dk1"/>
                </a:solidFill>
                <a:latin typeface="Times New Roman"/>
                <a:ea typeface="Times New Roman"/>
                <a:cs typeface="Times New Roman"/>
                <a:sym typeface="Times New Roman"/>
              </a:rPr>
              <a:t>sequence</a:t>
            </a:r>
            <a:r>
              <a:rPr lang="tr" sz="1100">
                <a:solidFill>
                  <a:schemeClr val="dk1"/>
                </a:solidFill>
                <a:latin typeface="Times New Roman"/>
                <a:ea typeface="Times New Roman"/>
                <a:cs typeface="Times New Roman"/>
                <a:sym typeface="Times New Roman"/>
              </a:rPr>
              <a:t> çıxarmağa kömək edir.</a:t>
            </a:r>
            <a:endParaRPr sz="11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tr" sz="1100">
                <a:solidFill>
                  <a:schemeClr val="dk1"/>
                </a:solidFill>
                <a:latin typeface="Times New Roman"/>
                <a:ea typeface="Times New Roman"/>
                <a:cs typeface="Times New Roman"/>
                <a:sym typeface="Times New Roman"/>
              </a:rPr>
              <a:t>Nəyi necə edir?</a:t>
            </a:r>
            <a:endParaRPr b="1" sz="1100">
              <a:solidFill>
                <a:schemeClr val="dk1"/>
              </a:solidFill>
              <a:latin typeface="Times New Roman"/>
              <a:ea typeface="Times New Roman"/>
              <a:cs typeface="Times New Roman"/>
              <a:sym typeface="Times New Roman"/>
            </a:endParaRPr>
          </a:p>
          <a:p>
            <a:pPr indent="-298450" lvl="0" marL="457200" rtl="0" algn="l">
              <a:spcBef>
                <a:spcPts val="1200"/>
              </a:spcBef>
              <a:spcAft>
                <a:spcPts val="0"/>
              </a:spcAft>
              <a:buClr>
                <a:schemeClr val="dk1"/>
              </a:buClr>
              <a:buSzPts val="1100"/>
              <a:buFont typeface="Times New Roman"/>
              <a:buChar char="●"/>
            </a:pPr>
            <a:r>
              <a:rPr lang="tr" sz="1100">
                <a:solidFill>
                  <a:schemeClr val="dk1"/>
                </a:solidFill>
                <a:latin typeface="Times New Roman"/>
                <a:ea typeface="Times New Roman"/>
                <a:cs typeface="Times New Roman"/>
                <a:sym typeface="Times New Roman"/>
              </a:rPr>
              <a:t>Strukturda atomlara baxır, residue-ların ardıcıllığını izləyir.</a:t>
            </a:r>
            <a:br>
              <a:rPr lang="tr"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Arial"/>
              <a:buChar char="●"/>
            </a:pPr>
            <a:r>
              <a:rPr lang="tr" sz="1100">
                <a:solidFill>
                  <a:schemeClr val="dk1"/>
                </a:solidFill>
                <a:latin typeface="Times New Roman"/>
                <a:ea typeface="Times New Roman"/>
                <a:cs typeface="Times New Roman"/>
                <a:sym typeface="Times New Roman"/>
              </a:rPr>
              <a:t>Əsas ideya: ardıcıl residue-lar arasında </a:t>
            </a:r>
            <a:r>
              <a:rPr b="1" lang="tr" sz="1100">
                <a:solidFill>
                  <a:schemeClr val="dk1"/>
                </a:solidFill>
                <a:latin typeface="Times New Roman"/>
                <a:ea typeface="Times New Roman"/>
                <a:cs typeface="Times New Roman"/>
                <a:sym typeface="Times New Roman"/>
              </a:rPr>
              <a:t>peptid bağı</a:t>
            </a:r>
            <a:r>
              <a:rPr lang="tr" sz="1100">
                <a:solidFill>
                  <a:schemeClr val="dk1"/>
                </a:solidFill>
                <a:latin typeface="Times New Roman"/>
                <a:ea typeface="Times New Roman"/>
                <a:cs typeface="Times New Roman"/>
                <a:sym typeface="Times New Roman"/>
              </a:rPr>
              <a:t> (praktikada N–C məsafəsi və standart residue ardıcıllığı) uyğun gəlirsə, onları “bir peptide” kimi birləşdirir.</a:t>
            </a:r>
            <a:br>
              <a:rPr lang="tr"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0" marL="457200" rtl="0" algn="l">
              <a:spcBef>
                <a:spcPts val="0"/>
              </a:spcBef>
              <a:spcAft>
                <a:spcPts val="0"/>
              </a:spcAft>
              <a:buClr>
                <a:schemeClr val="dk1"/>
              </a:buClr>
              <a:buSzPts val="1100"/>
              <a:buFont typeface="Arial"/>
              <a:buChar char="●"/>
            </a:pPr>
            <a:r>
              <a:rPr lang="tr" sz="1100">
                <a:solidFill>
                  <a:schemeClr val="dk1"/>
                </a:solidFill>
                <a:latin typeface="Times New Roman"/>
                <a:ea typeface="Times New Roman"/>
                <a:cs typeface="Times New Roman"/>
                <a:sym typeface="Times New Roman"/>
              </a:rPr>
              <a:t>Nəticədə build_peptides(structure) bir neçə peptide obyektini qaytarır (xüsusən:</a:t>
            </a:r>
            <a:br>
              <a:rPr lang="tr"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tr" sz="1100">
                <a:solidFill>
                  <a:schemeClr val="dk1"/>
                </a:solidFill>
                <a:latin typeface="Times New Roman"/>
                <a:ea typeface="Times New Roman"/>
                <a:cs typeface="Times New Roman"/>
                <a:sym typeface="Times New Roman"/>
              </a:rPr>
              <a:t>zəncir qırılıbsa,</a:t>
            </a:r>
            <a:br>
              <a:rPr lang="tr"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tr" sz="1100">
                <a:solidFill>
                  <a:schemeClr val="dk1"/>
                </a:solidFill>
                <a:latin typeface="Times New Roman"/>
                <a:ea typeface="Times New Roman"/>
                <a:cs typeface="Times New Roman"/>
                <a:sym typeface="Times New Roman"/>
              </a:rPr>
              <a:t>residue-lar missingdirsə,</a:t>
            </a:r>
            <a:br>
              <a:rPr lang="tr" sz="1100">
                <a:solidFill>
                  <a:schemeClr val="dk1"/>
                </a:solidFill>
                <a:latin typeface="Times New Roman"/>
                <a:ea typeface="Times New Roman"/>
                <a:cs typeface="Times New Roman"/>
                <a:sym typeface="Times New Roman"/>
              </a:rPr>
            </a:br>
            <a:endParaRPr sz="1100">
              <a:solidFill>
                <a:schemeClr val="dk1"/>
              </a:solidFill>
              <a:latin typeface="Times New Roman"/>
              <a:ea typeface="Times New Roman"/>
              <a:cs typeface="Times New Roman"/>
              <a:sym typeface="Times New Roman"/>
            </a:endParaRPr>
          </a:p>
          <a:p>
            <a:pPr indent="-298450" lvl="1" marL="914400" rtl="0" algn="l">
              <a:spcBef>
                <a:spcPts val="0"/>
              </a:spcBef>
              <a:spcAft>
                <a:spcPts val="0"/>
              </a:spcAft>
              <a:buClr>
                <a:schemeClr val="dk1"/>
              </a:buClr>
              <a:buSzPts val="1100"/>
              <a:buFont typeface="Times New Roman"/>
              <a:buChar char="○"/>
            </a:pPr>
            <a:r>
              <a:rPr lang="tr" sz="1100">
                <a:solidFill>
                  <a:schemeClr val="dk1"/>
                </a:solidFill>
                <a:latin typeface="Times New Roman"/>
                <a:ea typeface="Times New Roman"/>
                <a:cs typeface="Times New Roman"/>
                <a:sym typeface="Times New Roman"/>
              </a:rPr>
              <a:t>model/chain çoxdursa)</a:t>
            </a:r>
            <a:br>
              <a:rPr lang="tr" sz="1100">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latin typeface="Times New Roman"/>
                <a:ea typeface="Times New Roman"/>
                <a:cs typeface="Times New Roman"/>
                <a:sym typeface="Times New Roman"/>
              </a:rPr>
              <a:t>Amino acid frequency nədir?</a:t>
            </a:r>
            <a:endParaRPr>
              <a:latin typeface="Times New Roman"/>
              <a:ea typeface="Times New Roman"/>
              <a:cs typeface="Times New Roman"/>
              <a:sym typeface="Times New Roman"/>
            </a:endParaRPr>
          </a:p>
        </p:txBody>
      </p:sp>
      <p:sp>
        <p:nvSpPr>
          <p:cNvPr id="147" name="Google Shape;14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tr" sz="1100">
                <a:solidFill>
                  <a:srgbClr val="000000"/>
                </a:solidFill>
                <a:latin typeface="Times New Roman"/>
                <a:ea typeface="Times New Roman"/>
                <a:cs typeface="Times New Roman"/>
                <a:sym typeface="Times New Roman"/>
              </a:rPr>
              <a:t>Amino acid frequency (kompozisiya)</a:t>
            </a:r>
            <a:r>
              <a:rPr lang="tr" sz="1100">
                <a:solidFill>
                  <a:srgbClr val="000000"/>
                </a:solidFill>
                <a:latin typeface="Times New Roman"/>
                <a:ea typeface="Times New Roman"/>
                <a:cs typeface="Times New Roman"/>
                <a:sym typeface="Times New Roman"/>
              </a:rPr>
              <a:t> — protein sequence-də hər amin turşusunun: </a:t>
            </a:r>
            <a:r>
              <a:rPr b="1" lang="tr" sz="1100">
                <a:solidFill>
                  <a:srgbClr val="000000"/>
                </a:solidFill>
                <a:latin typeface="Times New Roman"/>
                <a:ea typeface="Times New Roman"/>
                <a:cs typeface="Times New Roman"/>
                <a:sym typeface="Times New Roman"/>
              </a:rPr>
              <a:t>Count</a:t>
            </a:r>
            <a:r>
              <a:rPr lang="tr" sz="1100">
                <a:solidFill>
                  <a:srgbClr val="000000"/>
                </a:solidFill>
                <a:latin typeface="Times New Roman"/>
                <a:ea typeface="Times New Roman"/>
                <a:cs typeface="Times New Roman"/>
                <a:sym typeface="Times New Roman"/>
              </a:rPr>
              <a:t> (say) + </a:t>
            </a:r>
            <a:r>
              <a:rPr b="1" lang="tr" sz="1100">
                <a:solidFill>
                  <a:srgbClr val="000000"/>
                </a:solidFill>
                <a:latin typeface="Times New Roman"/>
                <a:ea typeface="Times New Roman"/>
                <a:cs typeface="Times New Roman"/>
                <a:sym typeface="Times New Roman"/>
              </a:rPr>
              <a:t>Frequency</a:t>
            </a:r>
            <a:r>
              <a:rPr lang="tr" sz="1100">
                <a:solidFill>
                  <a:srgbClr val="000000"/>
                </a:solidFill>
                <a:latin typeface="Times New Roman"/>
                <a:ea typeface="Times New Roman"/>
                <a:cs typeface="Times New Roman"/>
                <a:sym typeface="Times New Roman"/>
              </a:rPr>
              <a:t> (nisbi pay: count / sequence_length) hesablanmasıdır.</a:t>
            </a:r>
            <a:endParaRPr sz="1100">
              <a:solidFill>
                <a:srgbClr val="000000"/>
              </a:solidFill>
              <a:latin typeface="Times New Roman"/>
              <a:ea typeface="Times New Roman"/>
              <a:cs typeface="Times New Roman"/>
              <a:sym typeface="Times New Roman"/>
            </a:endParaRPr>
          </a:p>
          <a:p>
            <a:pPr indent="0" lvl="0" marL="0" rtl="0" algn="l">
              <a:spcBef>
                <a:spcPts val="1400"/>
              </a:spcBef>
              <a:spcAft>
                <a:spcPts val="0"/>
              </a:spcAft>
              <a:buNone/>
            </a:pPr>
            <a:r>
              <a:rPr b="1" lang="tr" sz="1300">
                <a:solidFill>
                  <a:srgbClr val="000000"/>
                </a:solidFill>
                <a:latin typeface="Times New Roman"/>
                <a:ea typeface="Times New Roman"/>
                <a:cs typeface="Times New Roman"/>
                <a:sym typeface="Times New Roman"/>
              </a:rPr>
              <a:t>Bu analiz nə üçün faydalıdır?</a:t>
            </a:r>
            <a:endParaRPr b="1" sz="1300">
              <a:solidFill>
                <a:srgbClr val="000000"/>
              </a:solidFill>
              <a:latin typeface="Times New Roman"/>
              <a:ea typeface="Times New Roman"/>
              <a:cs typeface="Times New Roman"/>
              <a:sym typeface="Times New Roman"/>
            </a:endParaRPr>
          </a:p>
          <a:p>
            <a:pPr indent="-298450" lvl="0" marL="457200" rtl="0" algn="l">
              <a:spcBef>
                <a:spcPts val="120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Sürətli profil</a:t>
            </a:r>
            <a:r>
              <a:rPr lang="tr" sz="1100">
                <a:solidFill>
                  <a:srgbClr val="000000"/>
                </a:solidFill>
                <a:latin typeface="Times New Roman"/>
                <a:ea typeface="Times New Roman"/>
                <a:cs typeface="Times New Roman"/>
                <a:sym typeface="Times New Roman"/>
              </a:rPr>
              <a:t>: protein daha çox hidrofob amin turşularla zəngindirmi? (məs. Leu/Ile/Val çoxdursa)</a:t>
            </a:r>
            <a:br>
              <a:rPr lang="tr"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Müqayisə</a:t>
            </a:r>
            <a:r>
              <a:rPr lang="tr" sz="1100">
                <a:solidFill>
                  <a:srgbClr val="000000"/>
                </a:solidFill>
                <a:latin typeface="Times New Roman"/>
                <a:ea typeface="Times New Roman"/>
                <a:cs typeface="Times New Roman"/>
                <a:sym typeface="Times New Roman"/>
              </a:rPr>
              <a:t>: iki protein arasında tərkib fərqi varmı?</a:t>
            </a:r>
            <a:br>
              <a:rPr lang="tr"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Quality check</a:t>
            </a:r>
            <a:r>
              <a:rPr lang="tr" sz="1100">
                <a:solidFill>
                  <a:srgbClr val="000000"/>
                </a:solidFill>
                <a:latin typeface="Times New Roman"/>
                <a:ea typeface="Times New Roman"/>
                <a:cs typeface="Times New Roman"/>
                <a:sym typeface="Times New Roman"/>
              </a:rPr>
              <a:t>: çox qısa sequence və ya qeyri-adi paylanma varsa, strukturun natamam olması ehtimalı.</a:t>
            </a:r>
            <a:br>
              <a:rPr lang="tr" sz="1100">
                <a:solidFill>
                  <a:srgbClr val="000000"/>
                </a:solidFill>
                <a:latin typeface="Times New Roman"/>
                <a:ea typeface="Times New Roman"/>
                <a:cs typeface="Times New Roman"/>
                <a:sym typeface="Times New Roman"/>
              </a:rPr>
            </a:br>
            <a:endParaRPr sz="1100">
              <a:solidFill>
                <a:srgbClr val="000000"/>
              </a:solidFill>
              <a:latin typeface="Times New Roman"/>
              <a:ea typeface="Times New Roman"/>
              <a:cs typeface="Times New Roman"/>
              <a:sym typeface="Times New Roman"/>
            </a:endParaRPr>
          </a:p>
          <a:p>
            <a:pPr indent="-298450" lvl="0" marL="457200" rtl="0" algn="l">
              <a:spcBef>
                <a:spcPts val="0"/>
              </a:spcBef>
              <a:spcAft>
                <a:spcPts val="0"/>
              </a:spcAft>
              <a:buClr>
                <a:srgbClr val="000000"/>
              </a:buClr>
              <a:buSzPts val="1100"/>
              <a:buFont typeface="Arial"/>
              <a:buChar char="●"/>
            </a:pPr>
            <a:r>
              <a:rPr b="1" lang="tr" sz="1100">
                <a:solidFill>
                  <a:srgbClr val="000000"/>
                </a:solidFill>
                <a:latin typeface="Times New Roman"/>
                <a:ea typeface="Times New Roman"/>
                <a:cs typeface="Times New Roman"/>
                <a:sym typeface="Times New Roman"/>
              </a:rPr>
              <a:t>Feature engineering</a:t>
            </a:r>
            <a:r>
              <a:rPr lang="tr" sz="1100">
                <a:solidFill>
                  <a:srgbClr val="000000"/>
                </a:solidFill>
                <a:latin typeface="Times New Roman"/>
                <a:ea typeface="Times New Roman"/>
                <a:cs typeface="Times New Roman"/>
                <a:sym typeface="Times New Roman"/>
              </a:rPr>
              <a:t>: ML modellərdə “protein composition features” kimi istifadə oluna bilər.</a:t>
            </a:r>
            <a:endParaRPr>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968325" y="2102200"/>
            <a:ext cx="3745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Colab codes : </a:t>
            </a:r>
            <a:endParaRPr/>
          </a:p>
        </p:txBody>
      </p:sp>
      <p:sp>
        <p:nvSpPr>
          <p:cNvPr id="153" name="Google Shape;153;p26"/>
          <p:cNvSpPr txBox="1"/>
          <p:nvPr>
            <p:ph idx="1" type="body"/>
          </p:nvPr>
        </p:nvSpPr>
        <p:spPr>
          <a:xfrm>
            <a:off x="311700" y="3996175"/>
            <a:ext cx="30807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tr">
                <a:solidFill>
                  <a:schemeClr val="dk1"/>
                </a:solidFill>
              </a:rPr>
              <a:t>Link : </a:t>
            </a:r>
            <a:r>
              <a:rPr lang="tr" u="sng">
                <a:solidFill>
                  <a:schemeClr val="dk1"/>
                </a:solidFill>
                <a:hlinkClick r:id="rId3">
                  <a:extLst>
                    <a:ext uri="{A12FA001-AC4F-418D-AE19-62706E023703}">
                      <ahyp:hlinkClr val="tx"/>
                    </a:ext>
                  </a:extLst>
                </a:hlinkClick>
              </a:rPr>
              <a:t>https://bit.ly/4aWgnZa</a:t>
            </a:r>
            <a:r>
              <a:rPr lang="tr">
                <a:solidFill>
                  <a:schemeClr val="dk1"/>
                </a:solidFill>
              </a:rPr>
              <a:t> </a:t>
            </a:r>
            <a:endParaRPr>
              <a:solidFill>
                <a:schemeClr val="dk1"/>
              </a:solidFill>
            </a:endParaRPr>
          </a:p>
        </p:txBody>
      </p:sp>
      <p:pic>
        <p:nvPicPr>
          <p:cNvPr id="154" name="Google Shape;154;p26" title="Untitled design.png"/>
          <p:cNvPicPr preferRelativeResize="0"/>
          <p:nvPr/>
        </p:nvPicPr>
        <p:blipFill>
          <a:blip r:embed="rId4">
            <a:alphaModFix/>
          </a:blip>
          <a:stretch>
            <a:fillRect/>
          </a:stretch>
        </p:blipFill>
        <p:spPr>
          <a:xfrm>
            <a:off x="5233250" y="661263"/>
            <a:ext cx="3056781" cy="38209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